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48768000" cy="27432000"/>
  <p:notesSz cx="6858000" cy="9144000"/>
  <p:embeddedFontLst>
    <p:embeddedFont>
      <p:font typeface="Poppins Bold" charset="1" panose="00000800000000000000"/>
      <p:regular r:id="rId13"/>
    </p:embeddedFont>
    <p:embeddedFont>
      <p:font typeface="Canva Sans Bold" charset="1" panose="020B0803030501040103"/>
      <p:regular r:id="rId14"/>
    </p:embeddedFont>
    <p:embeddedFont>
      <p:font typeface="Canva Sans" charset="1" panose="020B0503030501040103"/>
      <p:regular r:id="rId15"/>
    </p:embeddedFont>
    <p:embeddedFont>
      <p:font typeface="Poppins" charset="1" panose="000005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86645" y="-4481355"/>
            <a:ext cx="36394710" cy="3639471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135467" lIns="135467" bIns="135467" rIns="135467"/>
            <a:lstStyle/>
            <a:p>
              <a:pPr algn="ctr">
                <a:lnSpc>
                  <a:spcPts val="7093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708714" y="-438550"/>
            <a:ext cx="31269145" cy="31230059"/>
          </a:xfrm>
          <a:custGeom>
            <a:avLst/>
            <a:gdLst/>
            <a:ahLst/>
            <a:cxnLst/>
            <a:rect r="r" b="b" t="t" l="l"/>
            <a:pathLst>
              <a:path h="31230059" w="31269145">
                <a:moveTo>
                  <a:pt x="0" y="0"/>
                </a:moveTo>
                <a:lnTo>
                  <a:pt x="31269145" y="0"/>
                </a:lnTo>
                <a:lnTo>
                  <a:pt x="31269145" y="31230059"/>
                </a:lnTo>
                <a:lnTo>
                  <a:pt x="0" y="312300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979684" y="-1688316"/>
            <a:ext cx="30808633" cy="3080863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135467" lIns="135467" bIns="135467" rIns="135467"/>
            <a:lstStyle/>
            <a:p>
              <a:pPr algn="ctr">
                <a:lnSpc>
                  <a:spcPts val="709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6644797" y="22555781"/>
            <a:ext cx="2538052" cy="2133019"/>
            <a:chOff x="0" y="0"/>
            <a:chExt cx="96714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7140" cy="812800"/>
            </a:xfrm>
            <a:custGeom>
              <a:avLst/>
              <a:gdLst/>
              <a:ahLst/>
              <a:cxnLst/>
              <a:rect r="r" b="b" t="t" l="l"/>
              <a:pathLst>
                <a:path h="812800" w="967140">
                  <a:moveTo>
                    <a:pt x="82359" y="0"/>
                  </a:moveTo>
                  <a:lnTo>
                    <a:pt x="884781" y="0"/>
                  </a:lnTo>
                  <a:cubicBezTo>
                    <a:pt x="906624" y="0"/>
                    <a:pt x="927572" y="8677"/>
                    <a:pt x="943018" y="24122"/>
                  </a:cubicBezTo>
                  <a:cubicBezTo>
                    <a:pt x="958463" y="39568"/>
                    <a:pt x="967140" y="60516"/>
                    <a:pt x="967140" y="82359"/>
                  </a:cubicBezTo>
                  <a:lnTo>
                    <a:pt x="967140" y="730441"/>
                  </a:lnTo>
                  <a:cubicBezTo>
                    <a:pt x="967140" y="752284"/>
                    <a:pt x="958463" y="773232"/>
                    <a:pt x="943018" y="788678"/>
                  </a:cubicBezTo>
                  <a:cubicBezTo>
                    <a:pt x="927572" y="804123"/>
                    <a:pt x="906624" y="812800"/>
                    <a:pt x="884781" y="812800"/>
                  </a:cubicBezTo>
                  <a:lnTo>
                    <a:pt x="82359" y="812800"/>
                  </a:lnTo>
                  <a:cubicBezTo>
                    <a:pt x="60516" y="812800"/>
                    <a:pt x="39568" y="804123"/>
                    <a:pt x="24122" y="788678"/>
                  </a:cubicBezTo>
                  <a:cubicBezTo>
                    <a:pt x="8677" y="773232"/>
                    <a:pt x="0" y="752284"/>
                    <a:pt x="0" y="730441"/>
                  </a:cubicBezTo>
                  <a:lnTo>
                    <a:pt x="0" y="82359"/>
                  </a:lnTo>
                  <a:cubicBezTo>
                    <a:pt x="0" y="60516"/>
                    <a:pt x="8677" y="39568"/>
                    <a:pt x="24122" y="24122"/>
                  </a:cubicBezTo>
                  <a:cubicBezTo>
                    <a:pt x="39568" y="8677"/>
                    <a:pt x="60516" y="0"/>
                    <a:pt x="82359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0"/>
              <a:ext cx="967140" cy="908050"/>
            </a:xfrm>
            <a:prstGeom prst="rect">
              <a:avLst/>
            </a:prstGeom>
          </p:spPr>
          <p:txBody>
            <a:bodyPr anchor="ctr" rtlCol="false" tIns="135467" lIns="135467" bIns="135467" rIns="135467"/>
            <a:lstStyle/>
            <a:p>
              <a:pPr algn="ctr">
                <a:lnSpc>
                  <a:spcPts val="7093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42807186" y="267218"/>
            <a:ext cx="5666058" cy="6704459"/>
          </a:xfrm>
          <a:custGeom>
            <a:avLst/>
            <a:gdLst/>
            <a:ahLst/>
            <a:cxnLst/>
            <a:rect r="r" b="b" t="t" l="l"/>
            <a:pathLst>
              <a:path h="6704459" w="5666058">
                <a:moveTo>
                  <a:pt x="0" y="0"/>
                </a:moveTo>
                <a:lnTo>
                  <a:pt x="5666058" y="0"/>
                </a:lnTo>
                <a:lnTo>
                  <a:pt x="5666058" y="6704459"/>
                </a:lnTo>
                <a:lnTo>
                  <a:pt x="0" y="67044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0" y="0"/>
            <a:ext cx="6186645" cy="6186645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0" y="10343527"/>
            <a:ext cx="48768000" cy="8243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17"/>
              </a:lnSpc>
            </a:pPr>
            <a:r>
              <a:rPr lang="en-US" sz="20798" b="true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CBSE AI Practical 2026-27</a:t>
            </a:r>
          </a:p>
          <a:p>
            <a:pPr algn="ctr">
              <a:lnSpc>
                <a:spcPts val="11342"/>
              </a:lnSpc>
            </a:pPr>
            <a:r>
              <a:rPr lang="en-US" sz="8101" b="true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Pradhumya Singh Yadav | Dhairya Chaudhary | Aryan Chauhan</a:t>
            </a:r>
          </a:p>
          <a:p>
            <a:pPr algn="ctr">
              <a:lnSpc>
                <a:spcPts val="11342"/>
              </a:lnSpc>
            </a:pPr>
            <a:r>
              <a:rPr lang="en-US" sz="8101" b="true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Jagran Public School Noida</a:t>
            </a:r>
          </a:p>
          <a:p>
            <a:pPr algn="ctr">
              <a:lnSpc>
                <a:spcPts val="11342"/>
              </a:lnSpc>
              <a:spcBef>
                <a:spcPct val="0"/>
              </a:spcBef>
            </a:pPr>
            <a:r>
              <a:rPr lang="en-US" b="true" sz="8101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Class: XIIth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7131679" y="23225325"/>
            <a:ext cx="1180659" cy="691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87"/>
              </a:lnSpc>
              <a:spcBef>
                <a:spcPct val="0"/>
              </a:spcBef>
            </a:pPr>
            <a:r>
              <a:rPr lang="en-US" b="true" sz="391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7432000" cy="27432000"/>
            <a:chOff x="0" y="0"/>
            <a:chExt cx="36576000" cy="365760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36576000" cy="36576000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8F8F8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</p:spPr>
            <p:txBody>
              <a:bodyPr anchor="ctr" rtlCol="false" tIns="204212" lIns="204212" bIns="204212" rIns="204212"/>
              <a:lstStyle/>
              <a:p>
                <a:pPr algn="ctr">
                  <a:lnSpc>
                    <a:spcPts val="7093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3539613" y="4062943"/>
              <a:ext cx="31424904" cy="31385623"/>
            </a:xfrm>
            <a:custGeom>
              <a:avLst/>
              <a:gdLst/>
              <a:ahLst/>
              <a:cxnLst/>
              <a:rect r="r" b="b" t="t" l="l"/>
              <a:pathLst>
                <a:path h="31385623" w="31424904">
                  <a:moveTo>
                    <a:pt x="0" y="0"/>
                  </a:moveTo>
                  <a:lnTo>
                    <a:pt x="31424904" y="0"/>
                  </a:lnTo>
                  <a:lnTo>
                    <a:pt x="31424904" y="31385623"/>
                  </a:lnTo>
                  <a:lnTo>
                    <a:pt x="0" y="313856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7" id="7"/>
            <p:cNvGrpSpPr/>
            <p:nvPr/>
          </p:nvGrpSpPr>
          <p:grpSpPr>
            <a:xfrm rot="0">
              <a:off x="2806951" y="2806951"/>
              <a:ext cx="30962098" cy="30962098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</p:spPr>
            <p:txBody>
              <a:bodyPr anchor="ctr" rtlCol="false" tIns="204212" lIns="204212" bIns="204212" rIns="204212"/>
              <a:lstStyle/>
              <a:p>
                <a:pPr algn="ctr">
                  <a:lnSpc>
                    <a:spcPts val="7093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15236158" y="10447132"/>
              <a:ext cx="6103684" cy="6103684"/>
            </a:xfrm>
            <a:custGeom>
              <a:avLst/>
              <a:gdLst/>
              <a:ahLst/>
              <a:cxnLst/>
              <a:rect r="r" b="b" t="t" l="l"/>
              <a:pathLst>
                <a:path h="6103684" w="6103684">
                  <a:moveTo>
                    <a:pt x="0" y="0"/>
                  </a:moveTo>
                  <a:lnTo>
                    <a:pt x="6103684" y="0"/>
                  </a:lnTo>
                  <a:lnTo>
                    <a:pt x="6103684" y="6103684"/>
                  </a:lnTo>
                  <a:lnTo>
                    <a:pt x="0" y="6103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7103249" y="17430750"/>
              <a:ext cx="22369502" cy="6953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9"/>
                </a:lnSpc>
                <a:spcBef>
                  <a:spcPct val="0"/>
                </a:spcBef>
              </a:pPr>
              <a:r>
                <a:rPr lang="en-US" b="true" sz="29999">
                  <a:solidFill>
                    <a:srgbClr val="1F202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Problem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6644797" y="22555781"/>
            <a:ext cx="2538052" cy="2133019"/>
            <a:chOff x="0" y="0"/>
            <a:chExt cx="96714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67140" cy="812800"/>
            </a:xfrm>
            <a:custGeom>
              <a:avLst/>
              <a:gdLst/>
              <a:ahLst/>
              <a:cxnLst/>
              <a:rect r="r" b="b" t="t" l="l"/>
              <a:pathLst>
                <a:path h="812800" w="967140">
                  <a:moveTo>
                    <a:pt x="82359" y="0"/>
                  </a:moveTo>
                  <a:lnTo>
                    <a:pt x="884781" y="0"/>
                  </a:lnTo>
                  <a:cubicBezTo>
                    <a:pt x="906624" y="0"/>
                    <a:pt x="927572" y="8677"/>
                    <a:pt x="943018" y="24122"/>
                  </a:cubicBezTo>
                  <a:cubicBezTo>
                    <a:pt x="958463" y="39568"/>
                    <a:pt x="967140" y="60516"/>
                    <a:pt x="967140" y="82359"/>
                  </a:cubicBezTo>
                  <a:lnTo>
                    <a:pt x="967140" y="730441"/>
                  </a:lnTo>
                  <a:cubicBezTo>
                    <a:pt x="967140" y="752284"/>
                    <a:pt x="958463" y="773232"/>
                    <a:pt x="943018" y="788678"/>
                  </a:cubicBezTo>
                  <a:cubicBezTo>
                    <a:pt x="927572" y="804123"/>
                    <a:pt x="906624" y="812800"/>
                    <a:pt x="884781" y="812800"/>
                  </a:cubicBezTo>
                  <a:lnTo>
                    <a:pt x="82359" y="812800"/>
                  </a:lnTo>
                  <a:cubicBezTo>
                    <a:pt x="60516" y="812800"/>
                    <a:pt x="39568" y="804123"/>
                    <a:pt x="24122" y="788678"/>
                  </a:cubicBezTo>
                  <a:cubicBezTo>
                    <a:pt x="8677" y="773232"/>
                    <a:pt x="0" y="752284"/>
                    <a:pt x="0" y="730441"/>
                  </a:cubicBezTo>
                  <a:lnTo>
                    <a:pt x="0" y="82359"/>
                  </a:lnTo>
                  <a:cubicBezTo>
                    <a:pt x="0" y="60516"/>
                    <a:pt x="8677" y="39568"/>
                    <a:pt x="24122" y="24122"/>
                  </a:cubicBezTo>
                  <a:cubicBezTo>
                    <a:pt x="39568" y="8677"/>
                    <a:pt x="60516" y="0"/>
                    <a:pt x="82359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0"/>
              <a:ext cx="967140" cy="908050"/>
            </a:xfrm>
            <a:prstGeom prst="rect">
              <a:avLst/>
            </a:prstGeom>
          </p:spPr>
          <p:txBody>
            <a:bodyPr anchor="ctr" rtlCol="false" tIns="135467" lIns="135467" bIns="135467" rIns="135467"/>
            <a:lstStyle/>
            <a:p>
              <a:pPr algn="ctr">
                <a:lnSpc>
                  <a:spcPts val="7093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4379238" y="12426632"/>
            <a:ext cx="9525" cy="2321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39"/>
              </a:lnSpc>
            </a:pPr>
          </a:p>
        </p:txBody>
      </p:sp>
      <p:grpSp>
        <p:nvGrpSpPr>
          <p:cNvPr name="Group 16" id="16"/>
          <p:cNvGrpSpPr/>
          <p:nvPr/>
        </p:nvGrpSpPr>
        <p:grpSpPr>
          <a:xfrm rot="0">
            <a:off x="23880720" y="10290440"/>
            <a:ext cx="2957424" cy="2957424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-142875"/>
              <a:ext cx="6604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191"/>
                </a:lnSpc>
              </a:pPr>
              <a:r>
                <a:rPr lang="en-US" b="true" sz="11565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₹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3880720" y="6085985"/>
            <a:ext cx="2957424" cy="2957424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093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3880720" y="13822546"/>
            <a:ext cx="2957424" cy="2957424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093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3880720" y="17969642"/>
            <a:ext cx="2957424" cy="2957424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-114300"/>
              <a:ext cx="660400" cy="850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999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24314079" y="6519344"/>
            <a:ext cx="2090706" cy="2090706"/>
          </a:xfrm>
          <a:custGeom>
            <a:avLst/>
            <a:gdLst/>
            <a:ahLst/>
            <a:cxnLst/>
            <a:rect r="r" b="b" t="t" l="l"/>
            <a:pathLst>
              <a:path h="2090706" w="2090706">
                <a:moveTo>
                  <a:pt x="0" y="0"/>
                </a:moveTo>
                <a:lnTo>
                  <a:pt x="2090707" y="0"/>
                </a:lnTo>
                <a:lnTo>
                  <a:pt x="2090707" y="2090706"/>
                </a:lnTo>
                <a:lnTo>
                  <a:pt x="0" y="20907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24565305" y="14495640"/>
            <a:ext cx="1588256" cy="1383226"/>
          </a:xfrm>
          <a:custGeom>
            <a:avLst/>
            <a:gdLst/>
            <a:ahLst/>
            <a:cxnLst/>
            <a:rect r="r" b="b" t="t" l="l"/>
            <a:pathLst>
              <a:path h="1383226" w="1588256">
                <a:moveTo>
                  <a:pt x="0" y="0"/>
                </a:moveTo>
                <a:lnTo>
                  <a:pt x="1588255" y="0"/>
                </a:lnTo>
                <a:lnTo>
                  <a:pt x="1588255" y="1383226"/>
                </a:lnTo>
                <a:lnTo>
                  <a:pt x="0" y="138322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24182128" y="18271050"/>
            <a:ext cx="2354608" cy="2354608"/>
          </a:xfrm>
          <a:custGeom>
            <a:avLst/>
            <a:gdLst/>
            <a:ahLst/>
            <a:cxnLst/>
            <a:rect r="r" b="b" t="t" l="l"/>
            <a:pathLst>
              <a:path h="2354608" w="2354608">
                <a:moveTo>
                  <a:pt x="0" y="0"/>
                </a:moveTo>
                <a:lnTo>
                  <a:pt x="2354609" y="0"/>
                </a:lnTo>
                <a:lnTo>
                  <a:pt x="2354609" y="2354608"/>
                </a:lnTo>
                <a:lnTo>
                  <a:pt x="0" y="235460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47131679" y="23225325"/>
            <a:ext cx="1180659" cy="691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87"/>
              </a:lnSpc>
              <a:spcBef>
                <a:spcPct val="0"/>
              </a:spcBef>
            </a:pPr>
            <a:r>
              <a:rPr lang="en-US" b="true" sz="391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7432000" y="6213785"/>
            <a:ext cx="18282017" cy="440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000"/>
              </a:lnSpc>
            </a:pPr>
            <a:r>
              <a:rPr lang="en-US" sz="5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Diagnostic Gap: </a:t>
            </a:r>
            <a:r>
              <a:rPr lang="en-US" sz="5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inability of non-specialist health workers to accurately distinguish between complex respiratory sounds leads to high misdiagnosis rates.</a:t>
            </a:r>
          </a:p>
          <a:p>
            <a:pPr algn="just">
              <a:lnSpc>
                <a:spcPts val="7000"/>
              </a:lnSpc>
            </a:pPr>
          </a:p>
          <a:p>
            <a:pPr algn="just">
              <a:lnSpc>
                <a:spcPts val="7000"/>
              </a:lnSpc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27432000" y="10515910"/>
            <a:ext cx="18282017" cy="2635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000"/>
              </a:lnSpc>
            </a:pPr>
            <a:r>
              <a:rPr lang="en-US" sz="5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</a:t>
            </a:r>
            <a:r>
              <a:rPr lang="en-US" b="true" sz="5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naccessible Technology:</a:t>
            </a:r>
            <a:r>
              <a:rPr lang="en-US" sz="5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5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Advanced digital stethoscopes cost upwards of ₹35,000, making AI diagnostic tools unaffordable for local clinics and rural PHCs.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7742783" y="14259439"/>
            <a:ext cx="18282017" cy="2635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000"/>
              </a:lnSpc>
            </a:pPr>
            <a:r>
              <a:rPr lang="en-US" sz="5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"Tri</a:t>
            </a:r>
            <a:r>
              <a:rPr lang="en-US" b="true" sz="5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al-and-Error" Risk: </a:t>
            </a:r>
            <a:r>
              <a:rPr lang="en-US" sz="5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Local doctors often prescribe generic medication for serious symptoms, wasting critical time while underlying infections like Pneumonia worsen.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7742783" y="18291816"/>
            <a:ext cx="18282017" cy="2635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000"/>
              </a:lnSpc>
            </a:pPr>
            <a:r>
              <a:rPr lang="en-US" sz="5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Critical Ref</a:t>
            </a:r>
            <a:r>
              <a:rPr lang="en-US" b="true" sz="5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erral Delay</a:t>
            </a:r>
            <a:r>
              <a:rPr lang="en-US" b="true" sz="5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s: </a:t>
            </a:r>
            <a:r>
              <a:rPr lang="en-US" sz="5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lack of early, objective detection for high-risk conditions results in late-stage hospitalizations and increased mortality in respiratory cases.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08024" y="11281110"/>
            <a:ext cx="38751951" cy="19256153"/>
            <a:chOff x="0" y="0"/>
            <a:chExt cx="51669268" cy="2567487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53976"/>
              <a:ext cx="18992960" cy="4524886"/>
              <a:chOff x="0" y="0"/>
              <a:chExt cx="1093382" cy="260488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093382" cy="260488"/>
              </a:xfrm>
              <a:custGeom>
                <a:avLst/>
                <a:gdLst/>
                <a:ahLst/>
                <a:cxnLst/>
                <a:rect r="r" b="b" t="t" l="l"/>
                <a:pathLst>
                  <a:path h="260488" w="1093382">
                    <a:moveTo>
                      <a:pt x="130244" y="0"/>
                    </a:moveTo>
                    <a:lnTo>
                      <a:pt x="963139" y="0"/>
                    </a:lnTo>
                    <a:cubicBezTo>
                      <a:pt x="1035070" y="0"/>
                      <a:pt x="1093382" y="58312"/>
                      <a:pt x="1093382" y="130244"/>
                    </a:cubicBezTo>
                    <a:lnTo>
                      <a:pt x="1093382" y="130244"/>
                    </a:lnTo>
                    <a:cubicBezTo>
                      <a:pt x="1093382" y="164787"/>
                      <a:pt x="1079660" y="197915"/>
                      <a:pt x="1055235" y="222340"/>
                    </a:cubicBezTo>
                    <a:cubicBezTo>
                      <a:pt x="1030809" y="246766"/>
                      <a:pt x="997681" y="260488"/>
                      <a:pt x="963139" y="260488"/>
                    </a:cubicBezTo>
                    <a:lnTo>
                      <a:pt x="130244" y="260488"/>
                    </a:lnTo>
                    <a:cubicBezTo>
                      <a:pt x="95701" y="260488"/>
                      <a:pt x="62573" y="246766"/>
                      <a:pt x="38148" y="222340"/>
                    </a:cubicBezTo>
                    <a:cubicBezTo>
                      <a:pt x="13722" y="197915"/>
                      <a:pt x="0" y="164787"/>
                      <a:pt x="0" y="130244"/>
                    </a:cubicBezTo>
                    <a:lnTo>
                      <a:pt x="0" y="130244"/>
                    </a:lnTo>
                    <a:cubicBezTo>
                      <a:pt x="0" y="95701"/>
                      <a:pt x="13722" y="62573"/>
                      <a:pt x="38148" y="38148"/>
                    </a:cubicBezTo>
                    <a:cubicBezTo>
                      <a:pt x="62573" y="13722"/>
                      <a:pt x="95701" y="0"/>
                      <a:pt x="130244" y="0"/>
                    </a:cubicBezTo>
                    <a:close/>
                  </a:path>
                </a:pathLst>
              </a:custGeom>
              <a:solidFill>
                <a:srgbClr val="F8F8F8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95250"/>
                <a:ext cx="1093382" cy="355738"/>
              </a:xfrm>
              <a:prstGeom prst="rect">
                <a:avLst/>
              </a:prstGeom>
            </p:spPr>
            <p:txBody>
              <a:bodyPr anchor="ctr" rtlCol="false" tIns="125564" lIns="125564" bIns="125564" rIns="125564"/>
              <a:lstStyle/>
              <a:p>
                <a:pPr algn="ctr">
                  <a:lnSpc>
                    <a:spcPts val="7093"/>
                  </a:lnSpc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14558888" y="609937"/>
              <a:ext cx="3939030" cy="3646027"/>
            </a:xfrm>
            <a:custGeom>
              <a:avLst/>
              <a:gdLst/>
              <a:ahLst/>
              <a:cxnLst/>
              <a:rect r="r" b="b" t="t" l="l"/>
              <a:pathLst>
                <a:path h="3646027" w="3939030">
                  <a:moveTo>
                    <a:pt x="0" y="0"/>
                  </a:moveTo>
                  <a:lnTo>
                    <a:pt x="3939030" y="0"/>
                  </a:lnTo>
                  <a:lnTo>
                    <a:pt x="3939030" y="3646026"/>
                  </a:lnTo>
                  <a:lnTo>
                    <a:pt x="0" y="36460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50" r="0" b="-3950"/>
              </a:stretch>
            </a:blipFill>
          </p:spPr>
        </p:sp>
        <p:grpSp>
          <p:nvGrpSpPr>
            <p:cNvPr name="Group 7" id="7"/>
            <p:cNvGrpSpPr/>
            <p:nvPr/>
          </p:nvGrpSpPr>
          <p:grpSpPr>
            <a:xfrm rot="0">
              <a:off x="14467051" y="464030"/>
              <a:ext cx="3881018" cy="3596826"/>
              <a:chOff x="0" y="0"/>
              <a:chExt cx="877021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77021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77021">
                    <a:moveTo>
                      <a:pt x="438510" y="0"/>
                    </a:moveTo>
                    <a:cubicBezTo>
                      <a:pt x="196328" y="0"/>
                      <a:pt x="0" y="181951"/>
                      <a:pt x="0" y="406400"/>
                    </a:cubicBezTo>
                    <a:cubicBezTo>
                      <a:pt x="0" y="630849"/>
                      <a:pt x="196328" y="812800"/>
                      <a:pt x="438510" y="812800"/>
                    </a:cubicBezTo>
                    <a:cubicBezTo>
                      <a:pt x="680693" y="812800"/>
                      <a:pt x="877021" y="630849"/>
                      <a:pt x="877021" y="406400"/>
                    </a:cubicBezTo>
                    <a:cubicBezTo>
                      <a:pt x="877021" y="181951"/>
                      <a:pt x="680693" y="0"/>
                      <a:pt x="43851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82221" y="-19050"/>
                <a:ext cx="712579" cy="755650"/>
              </a:xfrm>
              <a:prstGeom prst="rect">
                <a:avLst/>
              </a:prstGeom>
            </p:spPr>
            <p:txBody>
              <a:bodyPr anchor="ctr" rtlCol="false" tIns="125564" lIns="125564" bIns="125564" rIns="125564"/>
              <a:lstStyle/>
              <a:p>
                <a:pPr algn="ctr">
                  <a:lnSpc>
                    <a:spcPts val="7093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92050" y="651069"/>
              <a:ext cx="13232002" cy="50882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5040"/>
                </a:lnSpc>
                <a:spcBef>
                  <a:spcPct val="0"/>
                </a:spcBef>
              </a:pPr>
              <a:r>
                <a:rPr lang="en-US" sz="3600">
                  <a:solidFill>
                    <a:srgbClr val="3B3B3B"/>
                  </a:solidFill>
                  <a:latin typeface="Poppins"/>
                  <a:ea typeface="Poppins"/>
                  <a:cs typeface="Poppins"/>
                  <a:sym typeface="Poppins"/>
                </a:rPr>
                <a:t>Real-time AI classification allows local doctors to identify high-risk pathologies instantly, ensuring life-saving treatment begins days earlier.</a:t>
              </a:r>
            </a:p>
            <a:p>
              <a:pPr algn="r">
                <a:lnSpc>
                  <a:spcPts val="5040"/>
                </a:lnSpc>
                <a:spcBef>
                  <a:spcPct val="0"/>
                </a:spcBef>
              </a:pPr>
            </a:p>
            <a:p>
              <a:pPr algn="r">
                <a:lnSpc>
                  <a:spcPts val="5040"/>
                </a:lnSpc>
                <a:spcBef>
                  <a:spcPct val="0"/>
                </a:spcBef>
              </a:pPr>
            </a:p>
          </p:txBody>
        </p:sp>
        <p:sp>
          <p:nvSpPr>
            <p:cNvPr name="AutoShape 11" id="11"/>
            <p:cNvSpPr/>
            <p:nvPr/>
          </p:nvSpPr>
          <p:spPr>
            <a:xfrm>
              <a:off x="20550780" y="2316419"/>
              <a:ext cx="10569308" cy="0"/>
            </a:xfrm>
            <a:prstGeom prst="line">
              <a:avLst/>
            </a:prstGeom>
            <a:ln cap="flat" w="101600">
              <a:solidFill>
                <a:srgbClr val="F8F8F8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" id="12"/>
            <p:cNvSpPr/>
            <p:nvPr/>
          </p:nvSpPr>
          <p:spPr>
            <a:xfrm>
              <a:off x="20550780" y="9618372"/>
              <a:ext cx="10569308" cy="0"/>
            </a:xfrm>
            <a:prstGeom prst="line">
              <a:avLst/>
            </a:prstGeom>
            <a:ln cap="flat" w="101600">
              <a:solidFill>
                <a:srgbClr val="F8F8F8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13" id="13"/>
            <p:cNvGrpSpPr/>
            <p:nvPr/>
          </p:nvGrpSpPr>
          <p:grpSpPr>
            <a:xfrm rot="0">
              <a:off x="20131947" y="1928256"/>
              <a:ext cx="837666" cy="776327"/>
              <a:chOff x="0" y="0"/>
              <a:chExt cx="877021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77021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77021">
                    <a:moveTo>
                      <a:pt x="438510" y="0"/>
                    </a:moveTo>
                    <a:cubicBezTo>
                      <a:pt x="196328" y="0"/>
                      <a:pt x="0" y="181951"/>
                      <a:pt x="0" y="406400"/>
                    </a:cubicBezTo>
                    <a:cubicBezTo>
                      <a:pt x="0" y="630849"/>
                      <a:pt x="196328" y="812800"/>
                      <a:pt x="438510" y="812800"/>
                    </a:cubicBezTo>
                    <a:cubicBezTo>
                      <a:pt x="680693" y="812800"/>
                      <a:pt x="877021" y="630849"/>
                      <a:pt x="877021" y="406400"/>
                    </a:cubicBezTo>
                    <a:cubicBezTo>
                      <a:pt x="877021" y="181951"/>
                      <a:pt x="680693" y="0"/>
                      <a:pt x="438510" y="0"/>
                    </a:cubicBezTo>
                    <a:close/>
                  </a:path>
                </a:pathLst>
              </a:custGeom>
              <a:solidFill>
                <a:srgbClr val="3A6AD6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82221" y="-19050"/>
                <a:ext cx="712579" cy="755650"/>
              </a:xfrm>
              <a:prstGeom prst="rect">
                <a:avLst/>
              </a:prstGeom>
            </p:spPr>
            <p:txBody>
              <a:bodyPr anchor="ctr" rtlCol="false" tIns="125564" lIns="125564" bIns="125564" rIns="125564"/>
              <a:lstStyle/>
              <a:p>
                <a:pPr algn="ctr">
                  <a:lnSpc>
                    <a:spcPts val="709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30701256" y="1928256"/>
              <a:ext cx="837666" cy="776327"/>
              <a:chOff x="0" y="0"/>
              <a:chExt cx="877021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77021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77021">
                    <a:moveTo>
                      <a:pt x="438510" y="0"/>
                    </a:moveTo>
                    <a:cubicBezTo>
                      <a:pt x="196328" y="0"/>
                      <a:pt x="0" y="181951"/>
                      <a:pt x="0" y="406400"/>
                    </a:cubicBezTo>
                    <a:cubicBezTo>
                      <a:pt x="0" y="630849"/>
                      <a:pt x="196328" y="812800"/>
                      <a:pt x="438510" y="812800"/>
                    </a:cubicBezTo>
                    <a:cubicBezTo>
                      <a:pt x="680693" y="812800"/>
                      <a:pt x="877021" y="630849"/>
                      <a:pt x="877021" y="406400"/>
                    </a:cubicBezTo>
                    <a:cubicBezTo>
                      <a:pt x="877021" y="181951"/>
                      <a:pt x="680693" y="0"/>
                      <a:pt x="438510" y="0"/>
                    </a:cubicBezTo>
                    <a:close/>
                  </a:path>
                </a:pathLst>
              </a:custGeom>
              <a:solidFill>
                <a:srgbClr val="3A6AD6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82221" y="-19050"/>
                <a:ext cx="712579" cy="755650"/>
              </a:xfrm>
              <a:prstGeom prst="rect">
                <a:avLst/>
              </a:prstGeom>
            </p:spPr>
            <p:txBody>
              <a:bodyPr anchor="ctr" rtlCol="false" tIns="125564" lIns="125564" bIns="125564" rIns="125564"/>
              <a:lstStyle/>
              <a:p>
                <a:pPr algn="ctr">
                  <a:lnSpc>
                    <a:spcPts val="709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20131947" y="9230208"/>
              <a:ext cx="837666" cy="776327"/>
              <a:chOff x="0" y="0"/>
              <a:chExt cx="877021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77021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77021">
                    <a:moveTo>
                      <a:pt x="438510" y="0"/>
                    </a:moveTo>
                    <a:cubicBezTo>
                      <a:pt x="196328" y="0"/>
                      <a:pt x="0" y="181951"/>
                      <a:pt x="0" y="406400"/>
                    </a:cubicBezTo>
                    <a:cubicBezTo>
                      <a:pt x="0" y="630849"/>
                      <a:pt x="196328" y="812800"/>
                      <a:pt x="438510" y="812800"/>
                    </a:cubicBezTo>
                    <a:cubicBezTo>
                      <a:pt x="680693" y="812800"/>
                      <a:pt x="877021" y="630849"/>
                      <a:pt x="877021" y="406400"/>
                    </a:cubicBezTo>
                    <a:cubicBezTo>
                      <a:pt x="877021" y="181951"/>
                      <a:pt x="680693" y="0"/>
                      <a:pt x="438510" y="0"/>
                    </a:cubicBezTo>
                    <a:close/>
                  </a:path>
                </a:pathLst>
              </a:custGeom>
              <a:solidFill>
                <a:srgbClr val="3A6AD6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82221" y="-19050"/>
                <a:ext cx="712579" cy="755650"/>
              </a:xfrm>
              <a:prstGeom prst="rect">
                <a:avLst/>
              </a:prstGeom>
            </p:spPr>
            <p:txBody>
              <a:bodyPr anchor="ctr" rtlCol="false" tIns="125564" lIns="125564" bIns="125564" rIns="125564"/>
              <a:lstStyle/>
              <a:p>
                <a:pPr algn="ctr">
                  <a:lnSpc>
                    <a:spcPts val="709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30701256" y="9230208"/>
              <a:ext cx="837666" cy="776327"/>
              <a:chOff x="0" y="0"/>
              <a:chExt cx="877021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77021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77021">
                    <a:moveTo>
                      <a:pt x="438510" y="0"/>
                    </a:moveTo>
                    <a:cubicBezTo>
                      <a:pt x="196328" y="0"/>
                      <a:pt x="0" y="181951"/>
                      <a:pt x="0" y="406400"/>
                    </a:cubicBezTo>
                    <a:cubicBezTo>
                      <a:pt x="0" y="630849"/>
                      <a:pt x="196328" y="812800"/>
                      <a:pt x="438510" y="812800"/>
                    </a:cubicBezTo>
                    <a:cubicBezTo>
                      <a:pt x="680693" y="812800"/>
                      <a:pt x="877021" y="630849"/>
                      <a:pt x="877021" y="406400"/>
                    </a:cubicBezTo>
                    <a:cubicBezTo>
                      <a:pt x="877021" y="181951"/>
                      <a:pt x="680693" y="0"/>
                      <a:pt x="438510" y="0"/>
                    </a:cubicBezTo>
                    <a:close/>
                  </a:path>
                </a:pathLst>
              </a:custGeom>
              <a:solidFill>
                <a:srgbClr val="3A6AD6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82221" y="-19050"/>
                <a:ext cx="712579" cy="755650"/>
              </a:xfrm>
              <a:prstGeom prst="rect">
                <a:avLst/>
              </a:prstGeom>
            </p:spPr>
            <p:txBody>
              <a:bodyPr anchor="ctr" rtlCol="false" tIns="125564" lIns="125564" bIns="125564" rIns="125564"/>
              <a:lstStyle/>
              <a:p>
                <a:pPr algn="ctr">
                  <a:lnSpc>
                    <a:spcPts val="7093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25" id="25"/>
            <p:cNvSpPr/>
            <p:nvPr/>
          </p:nvSpPr>
          <p:spPr>
            <a:xfrm>
              <a:off x="25835434" y="2367219"/>
              <a:ext cx="0" cy="23307651"/>
            </a:xfrm>
            <a:prstGeom prst="line">
              <a:avLst/>
            </a:prstGeom>
            <a:ln cap="flat" w="101600">
              <a:solidFill>
                <a:srgbClr val="F8F8F8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26" id="26"/>
            <p:cNvGrpSpPr/>
            <p:nvPr/>
          </p:nvGrpSpPr>
          <p:grpSpPr>
            <a:xfrm rot="0">
              <a:off x="0" y="7355929"/>
              <a:ext cx="18992960" cy="4524886"/>
              <a:chOff x="0" y="0"/>
              <a:chExt cx="1093382" cy="260488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093382" cy="260488"/>
              </a:xfrm>
              <a:custGeom>
                <a:avLst/>
                <a:gdLst/>
                <a:ahLst/>
                <a:cxnLst/>
                <a:rect r="r" b="b" t="t" l="l"/>
                <a:pathLst>
                  <a:path h="260488" w="1093382">
                    <a:moveTo>
                      <a:pt x="130244" y="0"/>
                    </a:moveTo>
                    <a:lnTo>
                      <a:pt x="963139" y="0"/>
                    </a:lnTo>
                    <a:cubicBezTo>
                      <a:pt x="1035070" y="0"/>
                      <a:pt x="1093382" y="58312"/>
                      <a:pt x="1093382" y="130244"/>
                    </a:cubicBezTo>
                    <a:lnTo>
                      <a:pt x="1093382" y="130244"/>
                    </a:lnTo>
                    <a:cubicBezTo>
                      <a:pt x="1093382" y="164787"/>
                      <a:pt x="1079660" y="197915"/>
                      <a:pt x="1055235" y="222340"/>
                    </a:cubicBezTo>
                    <a:cubicBezTo>
                      <a:pt x="1030809" y="246766"/>
                      <a:pt x="997681" y="260488"/>
                      <a:pt x="963139" y="260488"/>
                    </a:cubicBezTo>
                    <a:lnTo>
                      <a:pt x="130244" y="260488"/>
                    </a:lnTo>
                    <a:cubicBezTo>
                      <a:pt x="95701" y="260488"/>
                      <a:pt x="62573" y="246766"/>
                      <a:pt x="38148" y="222340"/>
                    </a:cubicBezTo>
                    <a:cubicBezTo>
                      <a:pt x="13722" y="197915"/>
                      <a:pt x="0" y="164787"/>
                      <a:pt x="0" y="130244"/>
                    </a:cubicBezTo>
                    <a:lnTo>
                      <a:pt x="0" y="130244"/>
                    </a:lnTo>
                    <a:cubicBezTo>
                      <a:pt x="0" y="95701"/>
                      <a:pt x="13722" y="62573"/>
                      <a:pt x="38148" y="38148"/>
                    </a:cubicBezTo>
                    <a:cubicBezTo>
                      <a:pt x="62573" y="13722"/>
                      <a:pt x="95701" y="0"/>
                      <a:pt x="130244" y="0"/>
                    </a:cubicBezTo>
                    <a:close/>
                  </a:path>
                </a:pathLst>
              </a:custGeom>
              <a:solidFill>
                <a:srgbClr val="F8F8F8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95250"/>
                <a:ext cx="1093382" cy="355738"/>
              </a:xfrm>
              <a:prstGeom prst="rect">
                <a:avLst/>
              </a:prstGeom>
            </p:spPr>
            <p:txBody>
              <a:bodyPr anchor="ctr" rtlCol="false" tIns="125564" lIns="125564" bIns="125564" rIns="125564"/>
              <a:lstStyle/>
              <a:p>
                <a:pPr algn="ctr">
                  <a:lnSpc>
                    <a:spcPts val="7093"/>
                  </a:lnSpc>
                </a:pPr>
              </a:p>
            </p:txBody>
          </p:sp>
        </p:grpSp>
        <p:sp>
          <p:nvSpPr>
            <p:cNvPr name="Freeform 29" id="29"/>
            <p:cNvSpPr/>
            <p:nvPr/>
          </p:nvSpPr>
          <p:spPr>
            <a:xfrm flipH="false" flipV="false" rot="0">
              <a:off x="14558888" y="7911889"/>
              <a:ext cx="3939030" cy="3646027"/>
            </a:xfrm>
            <a:custGeom>
              <a:avLst/>
              <a:gdLst/>
              <a:ahLst/>
              <a:cxnLst/>
              <a:rect r="r" b="b" t="t" l="l"/>
              <a:pathLst>
                <a:path h="3646027" w="3939030">
                  <a:moveTo>
                    <a:pt x="0" y="0"/>
                  </a:moveTo>
                  <a:lnTo>
                    <a:pt x="3939030" y="0"/>
                  </a:lnTo>
                  <a:lnTo>
                    <a:pt x="3939030" y="3646027"/>
                  </a:lnTo>
                  <a:lnTo>
                    <a:pt x="0" y="3646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50" r="0" b="-3950"/>
              </a:stretch>
            </a:blipFill>
          </p:spPr>
        </p:sp>
        <p:grpSp>
          <p:nvGrpSpPr>
            <p:cNvPr name="Group 30" id="30"/>
            <p:cNvGrpSpPr/>
            <p:nvPr/>
          </p:nvGrpSpPr>
          <p:grpSpPr>
            <a:xfrm rot="0">
              <a:off x="14467051" y="7765982"/>
              <a:ext cx="3881018" cy="3596826"/>
              <a:chOff x="0" y="0"/>
              <a:chExt cx="877021" cy="8128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77021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77021">
                    <a:moveTo>
                      <a:pt x="438510" y="0"/>
                    </a:moveTo>
                    <a:cubicBezTo>
                      <a:pt x="196328" y="0"/>
                      <a:pt x="0" y="181951"/>
                      <a:pt x="0" y="406400"/>
                    </a:cubicBezTo>
                    <a:cubicBezTo>
                      <a:pt x="0" y="630849"/>
                      <a:pt x="196328" y="812800"/>
                      <a:pt x="438510" y="812800"/>
                    </a:cubicBezTo>
                    <a:cubicBezTo>
                      <a:pt x="680693" y="812800"/>
                      <a:pt x="877021" y="630849"/>
                      <a:pt x="877021" y="406400"/>
                    </a:cubicBezTo>
                    <a:cubicBezTo>
                      <a:pt x="877021" y="181951"/>
                      <a:pt x="680693" y="0"/>
                      <a:pt x="43851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82221" y="-19050"/>
                <a:ext cx="712579" cy="755650"/>
              </a:xfrm>
              <a:prstGeom prst="rect">
                <a:avLst/>
              </a:prstGeom>
            </p:spPr>
            <p:txBody>
              <a:bodyPr anchor="ctr" rtlCol="false" tIns="125564" lIns="125564" bIns="125564" rIns="125564"/>
              <a:lstStyle/>
              <a:p>
                <a:pPr algn="ctr">
                  <a:lnSpc>
                    <a:spcPts val="709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32676308" y="0"/>
              <a:ext cx="18992960" cy="4524886"/>
              <a:chOff x="0" y="0"/>
              <a:chExt cx="1093382" cy="260488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093382" cy="260488"/>
              </a:xfrm>
              <a:custGeom>
                <a:avLst/>
                <a:gdLst/>
                <a:ahLst/>
                <a:cxnLst/>
                <a:rect r="r" b="b" t="t" l="l"/>
                <a:pathLst>
                  <a:path h="260488" w="1093382">
                    <a:moveTo>
                      <a:pt x="130244" y="0"/>
                    </a:moveTo>
                    <a:lnTo>
                      <a:pt x="963139" y="0"/>
                    </a:lnTo>
                    <a:cubicBezTo>
                      <a:pt x="1035070" y="0"/>
                      <a:pt x="1093382" y="58312"/>
                      <a:pt x="1093382" y="130244"/>
                    </a:cubicBezTo>
                    <a:lnTo>
                      <a:pt x="1093382" y="130244"/>
                    </a:lnTo>
                    <a:cubicBezTo>
                      <a:pt x="1093382" y="164787"/>
                      <a:pt x="1079660" y="197915"/>
                      <a:pt x="1055235" y="222340"/>
                    </a:cubicBezTo>
                    <a:cubicBezTo>
                      <a:pt x="1030809" y="246766"/>
                      <a:pt x="997681" y="260488"/>
                      <a:pt x="963139" y="260488"/>
                    </a:cubicBezTo>
                    <a:lnTo>
                      <a:pt x="130244" y="260488"/>
                    </a:lnTo>
                    <a:cubicBezTo>
                      <a:pt x="95701" y="260488"/>
                      <a:pt x="62573" y="246766"/>
                      <a:pt x="38148" y="222340"/>
                    </a:cubicBezTo>
                    <a:cubicBezTo>
                      <a:pt x="13722" y="197915"/>
                      <a:pt x="0" y="164787"/>
                      <a:pt x="0" y="130244"/>
                    </a:cubicBezTo>
                    <a:lnTo>
                      <a:pt x="0" y="130244"/>
                    </a:lnTo>
                    <a:cubicBezTo>
                      <a:pt x="0" y="95701"/>
                      <a:pt x="13722" y="62573"/>
                      <a:pt x="38148" y="38148"/>
                    </a:cubicBezTo>
                    <a:cubicBezTo>
                      <a:pt x="62573" y="13722"/>
                      <a:pt x="95701" y="0"/>
                      <a:pt x="130244" y="0"/>
                    </a:cubicBezTo>
                    <a:close/>
                  </a:path>
                </a:pathLst>
              </a:custGeom>
              <a:solidFill>
                <a:srgbClr val="F8F8F8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95250"/>
                <a:ext cx="1093382" cy="355738"/>
              </a:xfrm>
              <a:prstGeom prst="rect">
                <a:avLst/>
              </a:prstGeom>
            </p:spPr>
            <p:txBody>
              <a:bodyPr anchor="ctr" rtlCol="false" tIns="125564" lIns="125564" bIns="125564" rIns="125564"/>
              <a:lstStyle/>
              <a:p>
                <a:pPr algn="ctr">
                  <a:lnSpc>
                    <a:spcPts val="7093"/>
                  </a:lnSpc>
                </a:pPr>
              </a:p>
            </p:txBody>
          </p:sp>
        </p:grpSp>
        <p:sp>
          <p:nvSpPr>
            <p:cNvPr name="Freeform 36" id="36"/>
            <p:cNvSpPr/>
            <p:nvPr/>
          </p:nvSpPr>
          <p:spPr>
            <a:xfrm flipH="false" flipV="false" rot="0">
              <a:off x="33837014" y="755844"/>
              <a:ext cx="3939030" cy="3646027"/>
            </a:xfrm>
            <a:custGeom>
              <a:avLst/>
              <a:gdLst/>
              <a:ahLst/>
              <a:cxnLst/>
              <a:rect r="r" b="b" t="t" l="l"/>
              <a:pathLst>
                <a:path h="3646027" w="3939030">
                  <a:moveTo>
                    <a:pt x="0" y="0"/>
                  </a:moveTo>
                  <a:lnTo>
                    <a:pt x="3939030" y="0"/>
                  </a:lnTo>
                  <a:lnTo>
                    <a:pt x="3939030" y="3646026"/>
                  </a:lnTo>
                  <a:lnTo>
                    <a:pt x="0" y="36460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50" r="0" b="-3950"/>
              </a:stretch>
            </a:blipFill>
          </p:spPr>
        </p:sp>
        <p:grpSp>
          <p:nvGrpSpPr>
            <p:cNvPr name="Group 37" id="37"/>
            <p:cNvGrpSpPr/>
            <p:nvPr/>
          </p:nvGrpSpPr>
          <p:grpSpPr>
            <a:xfrm rot="0">
              <a:off x="33745177" y="609937"/>
              <a:ext cx="3881018" cy="3596826"/>
              <a:chOff x="0" y="0"/>
              <a:chExt cx="877021" cy="8128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877021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77021">
                    <a:moveTo>
                      <a:pt x="438510" y="0"/>
                    </a:moveTo>
                    <a:cubicBezTo>
                      <a:pt x="196328" y="0"/>
                      <a:pt x="0" y="181951"/>
                      <a:pt x="0" y="406400"/>
                    </a:cubicBezTo>
                    <a:cubicBezTo>
                      <a:pt x="0" y="630849"/>
                      <a:pt x="196328" y="812800"/>
                      <a:pt x="438510" y="812800"/>
                    </a:cubicBezTo>
                    <a:cubicBezTo>
                      <a:pt x="680693" y="812800"/>
                      <a:pt x="877021" y="630849"/>
                      <a:pt x="877021" y="406400"/>
                    </a:cubicBezTo>
                    <a:cubicBezTo>
                      <a:pt x="877021" y="181951"/>
                      <a:pt x="680693" y="0"/>
                      <a:pt x="43851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82221" y="-19050"/>
                <a:ext cx="712579" cy="755650"/>
              </a:xfrm>
              <a:prstGeom prst="rect">
                <a:avLst/>
              </a:prstGeom>
            </p:spPr>
            <p:txBody>
              <a:bodyPr anchor="ctr" rtlCol="false" tIns="125564" lIns="125564" bIns="125564" rIns="125564"/>
              <a:lstStyle/>
              <a:p>
                <a:pPr algn="ctr">
                  <a:lnSpc>
                    <a:spcPts val="709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32676308" y="7229986"/>
              <a:ext cx="18992960" cy="4524886"/>
              <a:chOff x="0" y="0"/>
              <a:chExt cx="1093382" cy="260488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1093382" cy="260488"/>
              </a:xfrm>
              <a:custGeom>
                <a:avLst/>
                <a:gdLst/>
                <a:ahLst/>
                <a:cxnLst/>
                <a:rect r="r" b="b" t="t" l="l"/>
                <a:pathLst>
                  <a:path h="260488" w="1093382">
                    <a:moveTo>
                      <a:pt x="130244" y="0"/>
                    </a:moveTo>
                    <a:lnTo>
                      <a:pt x="963139" y="0"/>
                    </a:lnTo>
                    <a:cubicBezTo>
                      <a:pt x="1035070" y="0"/>
                      <a:pt x="1093382" y="58312"/>
                      <a:pt x="1093382" y="130244"/>
                    </a:cubicBezTo>
                    <a:lnTo>
                      <a:pt x="1093382" y="130244"/>
                    </a:lnTo>
                    <a:cubicBezTo>
                      <a:pt x="1093382" y="164787"/>
                      <a:pt x="1079660" y="197915"/>
                      <a:pt x="1055235" y="222340"/>
                    </a:cubicBezTo>
                    <a:cubicBezTo>
                      <a:pt x="1030809" y="246766"/>
                      <a:pt x="997681" y="260488"/>
                      <a:pt x="963139" y="260488"/>
                    </a:cubicBezTo>
                    <a:lnTo>
                      <a:pt x="130244" y="260488"/>
                    </a:lnTo>
                    <a:cubicBezTo>
                      <a:pt x="95701" y="260488"/>
                      <a:pt x="62573" y="246766"/>
                      <a:pt x="38148" y="222340"/>
                    </a:cubicBezTo>
                    <a:cubicBezTo>
                      <a:pt x="13722" y="197915"/>
                      <a:pt x="0" y="164787"/>
                      <a:pt x="0" y="130244"/>
                    </a:cubicBezTo>
                    <a:lnTo>
                      <a:pt x="0" y="130244"/>
                    </a:lnTo>
                    <a:cubicBezTo>
                      <a:pt x="0" y="95701"/>
                      <a:pt x="13722" y="62573"/>
                      <a:pt x="38148" y="38148"/>
                    </a:cubicBezTo>
                    <a:cubicBezTo>
                      <a:pt x="62573" y="13722"/>
                      <a:pt x="95701" y="0"/>
                      <a:pt x="130244" y="0"/>
                    </a:cubicBezTo>
                    <a:close/>
                  </a:path>
                </a:pathLst>
              </a:custGeom>
              <a:solidFill>
                <a:srgbClr val="F8F8F8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95250"/>
                <a:ext cx="1093382" cy="355738"/>
              </a:xfrm>
              <a:prstGeom prst="rect">
                <a:avLst/>
              </a:prstGeom>
            </p:spPr>
            <p:txBody>
              <a:bodyPr anchor="ctr" rtlCol="false" tIns="125564" lIns="125564" bIns="125564" rIns="125564"/>
              <a:lstStyle/>
              <a:p>
                <a:pPr algn="ctr">
                  <a:lnSpc>
                    <a:spcPts val="7093"/>
                  </a:lnSpc>
                </a:pPr>
              </a:p>
            </p:txBody>
          </p:sp>
        </p:grpSp>
        <p:sp>
          <p:nvSpPr>
            <p:cNvPr name="Freeform 43" id="43"/>
            <p:cNvSpPr/>
            <p:nvPr/>
          </p:nvSpPr>
          <p:spPr>
            <a:xfrm flipH="false" flipV="false" rot="0">
              <a:off x="33837014" y="7985829"/>
              <a:ext cx="3939030" cy="3646027"/>
            </a:xfrm>
            <a:custGeom>
              <a:avLst/>
              <a:gdLst/>
              <a:ahLst/>
              <a:cxnLst/>
              <a:rect r="r" b="b" t="t" l="l"/>
              <a:pathLst>
                <a:path h="3646027" w="3939030">
                  <a:moveTo>
                    <a:pt x="0" y="0"/>
                  </a:moveTo>
                  <a:lnTo>
                    <a:pt x="3939030" y="0"/>
                  </a:lnTo>
                  <a:lnTo>
                    <a:pt x="3939030" y="3646027"/>
                  </a:lnTo>
                  <a:lnTo>
                    <a:pt x="0" y="3646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50" r="0" b="-3950"/>
              </a:stretch>
            </a:blipFill>
          </p:spPr>
        </p:sp>
        <p:grpSp>
          <p:nvGrpSpPr>
            <p:cNvPr name="Group 44" id="44"/>
            <p:cNvGrpSpPr/>
            <p:nvPr/>
          </p:nvGrpSpPr>
          <p:grpSpPr>
            <a:xfrm rot="0">
              <a:off x="33745177" y="7839922"/>
              <a:ext cx="3881018" cy="3596826"/>
              <a:chOff x="0" y="0"/>
              <a:chExt cx="877021" cy="81280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877021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77021">
                    <a:moveTo>
                      <a:pt x="438510" y="0"/>
                    </a:moveTo>
                    <a:cubicBezTo>
                      <a:pt x="196328" y="0"/>
                      <a:pt x="0" y="181951"/>
                      <a:pt x="0" y="406400"/>
                    </a:cubicBezTo>
                    <a:cubicBezTo>
                      <a:pt x="0" y="630849"/>
                      <a:pt x="196328" y="812800"/>
                      <a:pt x="438510" y="812800"/>
                    </a:cubicBezTo>
                    <a:cubicBezTo>
                      <a:pt x="680693" y="812800"/>
                      <a:pt x="877021" y="630849"/>
                      <a:pt x="877021" y="406400"/>
                    </a:cubicBezTo>
                    <a:cubicBezTo>
                      <a:pt x="877021" y="181951"/>
                      <a:pt x="680693" y="0"/>
                      <a:pt x="43851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82221" y="-19050"/>
                <a:ext cx="712579" cy="755650"/>
              </a:xfrm>
              <a:prstGeom prst="rect">
                <a:avLst/>
              </a:prstGeom>
            </p:spPr>
            <p:txBody>
              <a:bodyPr anchor="ctr" rtlCol="false" tIns="125564" lIns="125564" bIns="125564" rIns="125564"/>
              <a:lstStyle/>
              <a:p>
                <a:pPr algn="ctr">
                  <a:lnSpc>
                    <a:spcPts val="7093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47" id="47"/>
          <p:cNvSpPr txBox="true"/>
          <p:nvPr/>
        </p:nvSpPr>
        <p:spPr>
          <a:xfrm rot="0">
            <a:off x="0" y="3520365"/>
            <a:ext cx="48768000" cy="543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0"/>
              </a:lnSpc>
              <a:spcBef>
                <a:spcPct val="0"/>
              </a:spcBef>
            </a:pPr>
            <a:r>
              <a:rPr lang="en-US" b="true" sz="3000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The Opportunity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5008024" y="17066802"/>
            <a:ext cx="9924001" cy="2566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Converting analog breath sounds into digital data enables the creation of a longitudinal health record for better patient monitoring and follow-up.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33447795" y="11729954"/>
            <a:ext cx="9609591" cy="2566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Using low-cost, off-the-shelf hardware and open-source AI, this solution can be rapidly deployed across global regions with limited medical resources.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33447795" y="17066802"/>
            <a:ext cx="9924001" cy="2566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By reducing the cost of digital stethoscopes by 80%, we can equip every ASHA worker and rural clinic with specialist-level screening tools.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408786" y="-5731311"/>
            <a:ext cx="38894623" cy="3889462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135467" lIns="135467" bIns="135467" rIns="135467"/>
            <a:lstStyle/>
            <a:p>
              <a:pPr algn="ctr">
                <a:lnSpc>
                  <a:spcPts val="7093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9644791" y="-1410811"/>
            <a:ext cx="33416989" cy="33375217"/>
          </a:xfrm>
          <a:custGeom>
            <a:avLst/>
            <a:gdLst/>
            <a:ahLst/>
            <a:cxnLst/>
            <a:rect r="r" b="b" t="t" l="l"/>
            <a:pathLst>
              <a:path h="33375217" w="33416989">
                <a:moveTo>
                  <a:pt x="0" y="0"/>
                </a:moveTo>
                <a:lnTo>
                  <a:pt x="33416989" y="0"/>
                </a:lnTo>
                <a:lnTo>
                  <a:pt x="33416989" y="33375218"/>
                </a:lnTo>
                <a:lnTo>
                  <a:pt x="0" y="333752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0423897" y="-2746422"/>
            <a:ext cx="32924844" cy="3292484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135467" lIns="135467" bIns="135467" rIns="135467"/>
            <a:lstStyle/>
            <a:p>
              <a:pPr algn="ctr">
                <a:lnSpc>
                  <a:spcPts val="709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6644797" y="22555781"/>
            <a:ext cx="2538052" cy="2133019"/>
            <a:chOff x="0" y="0"/>
            <a:chExt cx="96714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7140" cy="812800"/>
            </a:xfrm>
            <a:custGeom>
              <a:avLst/>
              <a:gdLst/>
              <a:ahLst/>
              <a:cxnLst/>
              <a:rect r="r" b="b" t="t" l="l"/>
              <a:pathLst>
                <a:path h="812800" w="967140">
                  <a:moveTo>
                    <a:pt x="82359" y="0"/>
                  </a:moveTo>
                  <a:lnTo>
                    <a:pt x="884781" y="0"/>
                  </a:lnTo>
                  <a:cubicBezTo>
                    <a:pt x="906624" y="0"/>
                    <a:pt x="927572" y="8677"/>
                    <a:pt x="943018" y="24122"/>
                  </a:cubicBezTo>
                  <a:cubicBezTo>
                    <a:pt x="958463" y="39568"/>
                    <a:pt x="967140" y="60516"/>
                    <a:pt x="967140" y="82359"/>
                  </a:cubicBezTo>
                  <a:lnTo>
                    <a:pt x="967140" y="730441"/>
                  </a:lnTo>
                  <a:cubicBezTo>
                    <a:pt x="967140" y="752284"/>
                    <a:pt x="958463" y="773232"/>
                    <a:pt x="943018" y="788678"/>
                  </a:cubicBezTo>
                  <a:cubicBezTo>
                    <a:pt x="927572" y="804123"/>
                    <a:pt x="906624" y="812800"/>
                    <a:pt x="884781" y="812800"/>
                  </a:cubicBezTo>
                  <a:lnTo>
                    <a:pt x="82359" y="812800"/>
                  </a:lnTo>
                  <a:cubicBezTo>
                    <a:pt x="60516" y="812800"/>
                    <a:pt x="39568" y="804123"/>
                    <a:pt x="24122" y="788678"/>
                  </a:cubicBezTo>
                  <a:cubicBezTo>
                    <a:pt x="8677" y="773232"/>
                    <a:pt x="0" y="752284"/>
                    <a:pt x="0" y="730441"/>
                  </a:cubicBezTo>
                  <a:lnTo>
                    <a:pt x="0" y="82359"/>
                  </a:lnTo>
                  <a:cubicBezTo>
                    <a:pt x="0" y="60516"/>
                    <a:pt x="8677" y="39568"/>
                    <a:pt x="24122" y="24122"/>
                  </a:cubicBezTo>
                  <a:cubicBezTo>
                    <a:pt x="39568" y="8677"/>
                    <a:pt x="60516" y="0"/>
                    <a:pt x="82359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0"/>
              <a:ext cx="967140" cy="908050"/>
            </a:xfrm>
            <a:prstGeom prst="rect">
              <a:avLst/>
            </a:prstGeom>
          </p:spPr>
          <p:txBody>
            <a:bodyPr anchor="ctr" rtlCol="false" tIns="135467" lIns="135467" bIns="135467" rIns="135467"/>
            <a:lstStyle/>
            <a:p>
              <a:pPr algn="ctr">
                <a:lnSpc>
                  <a:spcPts val="7093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47131679" y="23225325"/>
            <a:ext cx="1180659" cy="691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87"/>
              </a:lnSpc>
              <a:spcBef>
                <a:spcPct val="0"/>
              </a:spcBef>
            </a:pPr>
            <a:r>
              <a:rPr lang="en-US" b="true" sz="391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9359711" y="8835643"/>
            <a:ext cx="3036715" cy="3036715"/>
          </a:xfrm>
          <a:custGeom>
            <a:avLst/>
            <a:gdLst/>
            <a:ahLst/>
            <a:cxnLst/>
            <a:rect r="r" b="b" t="t" l="l"/>
            <a:pathLst>
              <a:path h="3036715" w="3036715">
                <a:moveTo>
                  <a:pt x="0" y="0"/>
                </a:moveTo>
                <a:lnTo>
                  <a:pt x="3036716" y="0"/>
                </a:lnTo>
                <a:lnTo>
                  <a:pt x="3036716" y="3036715"/>
                </a:lnTo>
                <a:lnTo>
                  <a:pt x="0" y="30367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428567" y="12124023"/>
            <a:ext cx="19873069" cy="543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0"/>
              </a:lnSpc>
              <a:spcBef>
                <a:spcPct val="0"/>
              </a:spcBef>
            </a:pPr>
            <a:r>
              <a:rPr lang="en-US" b="true" sz="3000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Our Idea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26837084" y="2743200"/>
            <a:ext cx="16742826" cy="22714661"/>
            <a:chOff x="0" y="0"/>
            <a:chExt cx="22323769" cy="30286215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22323769" cy="5398524"/>
              <a:chOff x="0" y="0"/>
              <a:chExt cx="1086655" cy="262784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086655" cy="262784"/>
              </a:xfrm>
              <a:custGeom>
                <a:avLst/>
                <a:gdLst/>
                <a:ahLst/>
                <a:cxnLst/>
                <a:rect r="r" b="b" t="t" l="l"/>
                <a:pathLst>
                  <a:path h="262784" w="1086655">
                    <a:moveTo>
                      <a:pt x="123461" y="0"/>
                    </a:moveTo>
                    <a:lnTo>
                      <a:pt x="963194" y="0"/>
                    </a:lnTo>
                    <a:cubicBezTo>
                      <a:pt x="1031379" y="0"/>
                      <a:pt x="1086655" y="55276"/>
                      <a:pt x="1086655" y="123461"/>
                    </a:cubicBezTo>
                    <a:lnTo>
                      <a:pt x="1086655" y="139323"/>
                    </a:lnTo>
                    <a:cubicBezTo>
                      <a:pt x="1086655" y="207509"/>
                      <a:pt x="1031379" y="262784"/>
                      <a:pt x="963194" y="262784"/>
                    </a:cubicBezTo>
                    <a:lnTo>
                      <a:pt x="123461" y="262784"/>
                    </a:lnTo>
                    <a:cubicBezTo>
                      <a:pt x="55276" y="262784"/>
                      <a:pt x="0" y="207509"/>
                      <a:pt x="0" y="139323"/>
                    </a:cubicBezTo>
                    <a:lnTo>
                      <a:pt x="0" y="123461"/>
                    </a:lnTo>
                    <a:cubicBezTo>
                      <a:pt x="0" y="55276"/>
                      <a:pt x="55276" y="0"/>
                      <a:pt x="123461" y="0"/>
                    </a:cubicBezTo>
                    <a:close/>
                  </a:path>
                </a:pathLst>
              </a:custGeom>
              <a:solidFill>
                <a:srgbClr val="F8F8F8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95250"/>
                <a:ext cx="1086655" cy="358034"/>
              </a:xfrm>
              <a:prstGeom prst="rect">
                <a:avLst/>
              </a:prstGeom>
            </p:spPr>
            <p:txBody>
              <a:bodyPr anchor="ctr" rtlCol="false" tIns="148497" lIns="148497" bIns="148497" rIns="148497"/>
              <a:lstStyle/>
              <a:p>
                <a:pPr algn="ctr">
                  <a:lnSpc>
                    <a:spcPts val="7093"/>
                  </a:lnSpc>
                </a:pPr>
              </a:p>
            </p:txBody>
          </p:sp>
        </p:grpSp>
        <p:sp>
          <p:nvSpPr>
            <p:cNvPr name="Freeform 19" id="19"/>
            <p:cNvSpPr/>
            <p:nvPr/>
          </p:nvSpPr>
          <p:spPr>
            <a:xfrm flipH="false" flipV="false" rot="0">
              <a:off x="1364260" y="893896"/>
              <a:ext cx="4629820" cy="4311964"/>
            </a:xfrm>
            <a:custGeom>
              <a:avLst/>
              <a:gdLst/>
              <a:ahLst/>
              <a:cxnLst/>
              <a:rect r="r" b="b" t="t" l="l"/>
              <a:pathLst>
                <a:path h="4311964" w="4629820">
                  <a:moveTo>
                    <a:pt x="0" y="0"/>
                  </a:moveTo>
                  <a:lnTo>
                    <a:pt x="4629820" y="0"/>
                  </a:lnTo>
                  <a:lnTo>
                    <a:pt x="4629820" y="4311964"/>
                  </a:lnTo>
                  <a:lnTo>
                    <a:pt x="0" y="43119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618" r="0" b="-3618"/>
              </a:stretch>
            </a:blipFill>
          </p:spPr>
        </p:sp>
        <p:grpSp>
          <p:nvGrpSpPr>
            <p:cNvPr name="Group 20" id="20"/>
            <p:cNvGrpSpPr/>
            <p:nvPr/>
          </p:nvGrpSpPr>
          <p:grpSpPr>
            <a:xfrm rot="0">
              <a:off x="1256317" y="721340"/>
              <a:ext cx="4561635" cy="4253777"/>
              <a:chOff x="0" y="0"/>
              <a:chExt cx="871625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71625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71625">
                    <a:moveTo>
                      <a:pt x="435812" y="0"/>
                    </a:moveTo>
                    <a:cubicBezTo>
                      <a:pt x="195120" y="0"/>
                      <a:pt x="0" y="181951"/>
                      <a:pt x="0" y="406400"/>
                    </a:cubicBezTo>
                    <a:cubicBezTo>
                      <a:pt x="0" y="630849"/>
                      <a:pt x="195120" y="812800"/>
                      <a:pt x="435812" y="812800"/>
                    </a:cubicBezTo>
                    <a:cubicBezTo>
                      <a:pt x="676505" y="812800"/>
                      <a:pt x="871625" y="630849"/>
                      <a:pt x="871625" y="406400"/>
                    </a:cubicBezTo>
                    <a:cubicBezTo>
                      <a:pt x="871625" y="181951"/>
                      <a:pt x="676505" y="0"/>
                      <a:pt x="435812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81715" y="-114300"/>
                <a:ext cx="708195" cy="850900"/>
              </a:xfrm>
              <a:prstGeom prst="rect">
                <a:avLst/>
              </a:prstGeom>
            </p:spPr>
            <p:txBody>
              <a:bodyPr anchor="ctr" rtlCol="false" tIns="148497" lIns="148497" bIns="148497" rIns="148497"/>
              <a:lstStyle/>
              <a:p>
                <a:pPr algn="ctr">
                  <a:lnSpc>
                    <a:spcPts val="13999"/>
                  </a:lnSpc>
                  <a:spcBef>
                    <a:spcPct val="0"/>
                  </a:spcBef>
                </a:pPr>
                <a:r>
                  <a:rPr lang="en-US" b="true" sz="9999">
                    <a:solidFill>
                      <a:srgbClr val="3A6AD6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1</a:t>
                </a: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6290425" y="324667"/>
              <a:ext cx="14378172" cy="37039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34"/>
                </a:lnSpc>
                <a:spcBef>
                  <a:spcPct val="0"/>
                </a:spcBef>
              </a:pPr>
              <a:r>
                <a:rPr lang="en-US" sz="3953">
                  <a:solidFill>
                    <a:srgbClr val="3B3B3B"/>
                  </a:solidFill>
                  <a:latin typeface="Poppins"/>
                  <a:ea typeface="Poppins"/>
                  <a:cs typeface="Poppins"/>
                  <a:sym typeface="Poppins"/>
                </a:rPr>
                <a:t>VITALIS uses an embedded neural network to instantly translate raw lung sounds into clinical labels like "Normal," "Wheeze," or "Crackle."</a:t>
              </a:r>
            </a:p>
          </p:txBody>
        </p:sp>
        <p:grpSp>
          <p:nvGrpSpPr>
            <p:cNvPr name="Group 24" id="24"/>
            <p:cNvGrpSpPr/>
            <p:nvPr/>
          </p:nvGrpSpPr>
          <p:grpSpPr>
            <a:xfrm rot="0">
              <a:off x="0" y="8550523"/>
              <a:ext cx="22323769" cy="5351344"/>
              <a:chOff x="0" y="0"/>
              <a:chExt cx="1086655" cy="260488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086655" cy="260488"/>
              </a:xfrm>
              <a:custGeom>
                <a:avLst/>
                <a:gdLst/>
                <a:ahLst/>
                <a:cxnLst/>
                <a:rect r="r" b="b" t="t" l="l"/>
                <a:pathLst>
                  <a:path h="260488" w="1086655">
                    <a:moveTo>
                      <a:pt x="123461" y="0"/>
                    </a:moveTo>
                    <a:lnTo>
                      <a:pt x="963194" y="0"/>
                    </a:lnTo>
                    <a:cubicBezTo>
                      <a:pt x="1031379" y="0"/>
                      <a:pt x="1086655" y="55276"/>
                      <a:pt x="1086655" y="123461"/>
                    </a:cubicBezTo>
                    <a:lnTo>
                      <a:pt x="1086655" y="137026"/>
                    </a:lnTo>
                    <a:cubicBezTo>
                      <a:pt x="1086655" y="205212"/>
                      <a:pt x="1031379" y="260488"/>
                      <a:pt x="963194" y="260488"/>
                    </a:cubicBezTo>
                    <a:lnTo>
                      <a:pt x="123461" y="260488"/>
                    </a:lnTo>
                    <a:cubicBezTo>
                      <a:pt x="55276" y="260488"/>
                      <a:pt x="0" y="205212"/>
                      <a:pt x="0" y="137026"/>
                    </a:cubicBezTo>
                    <a:lnTo>
                      <a:pt x="0" y="123461"/>
                    </a:lnTo>
                    <a:cubicBezTo>
                      <a:pt x="0" y="55276"/>
                      <a:pt x="55276" y="0"/>
                      <a:pt x="123461" y="0"/>
                    </a:cubicBezTo>
                    <a:close/>
                  </a:path>
                </a:pathLst>
              </a:custGeom>
              <a:solidFill>
                <a:srgbClr val="F8F8F8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95250"/>
                <a:ext cx="1086655" cy="355738"/>
              </a:xfrm>
              <a:prstGeom prst="rect">
                <a:avLst/>
              </a:prstGeom>
            </p:spPr>
            <p:txBody>
              <a:bodyPr anchor="ctr" rtlCol="false" tIns="148497" lIns="148497" bIns="148497" rIns="148497"/>
              <a:lstStyle/>
              <a:p>
                <a:pPr algn="ctr">
                  <a:lnSpc>
                    <a:spcPts val="7093"/>
                  </a:lnSpc>
                </a:pPr>
              </a:p>
            </p:txBody>
          </p:sp>
        </p:grpSp>
        <p:sp>
          <p:nvSpPr>
            <p:cNvPr name="Freeform 27" id="27"/>
            <p:cNvSpPr/>
            <p:nvPr/>
          </p:nvSpPr>
          <p:spPr>
            <a:xfrm flipH="false" flipV="false" rot="0">
              <a:off x="1364260" y="9444419"/>
              <a:ext cx="4629820" cy="4311964"/>
            </a:xfrm>
            <a:custGeom>
              <a:avLst/>
              <a:gdLst/>
              <a:ahLst/>
              <a:cxnLst/>
              <a:rect r="r" b="b" t="t" l="l"/>
              <a:pathLst>
                <a:path h="4311964" w="4629820">
                  <a:moveTo>
                    <a:pt x="0" y="0"/>
                  </a:moveTo>
                  <a:lnTo>
                    <a:pt x="4629820" y="0"/>
                  </a:lnTo>
                  <a:lnTo>
                    <a:pt x="4629820" y="4311964"/>
                  </a:lnTo>
                  <a:lnTo>
                    <a:pt x="0" y="43119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618" r="0" b="-3618"/>
              </a:stretch>
            </a:blipFill>
          </p:spPr>
        </p:sp>
        <p:grpSp>
          <p:nvGrpSpPr>
            <p:cNvPr name="Group 28" id="28"/>
            <p:cNvGrpSpPr/>
            <p:nvPr/>
          </p:nvGrpSpPr>
          <p:grpSpPr>
            <a:xfrm rot="0">
              <a:off x="1256317" y="9271863"/>
              <a:ext cx="4561635" cy="4253777"/>
              <a:chOff x="0" y="0"/>
              <a:chExt cx="871625" cy="8128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71625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71625">
                    <a:moveTo>
                      <a:pt x="435812" y="0"/>
                    </a:moveTo>
                    <a:cubicBezTo>
                      <a:pt x="195120" y="0"/>
                      <a:pt x="0" y="181951"/>
                      <a:pt x="0" y="406400"/>
                    </a:cubicBezTo>
                    <a:cubicBezTo>
                      <a:pt x="0" y="630849"/>
                      <a:pt x="195120" y="812800"/>
                      <a:pt x="435812" y="812800"/>
                    </a:cubicBezTo>
                    <a:cubicBezTo>
                      <a:pt x="676505" y="812800"/>
                      <a:pt x="871625" y="630849"/>
                      <a:pt x="871625" y="406400"/>
                    </a:cubicBezTo>
                    <a:cubicBezTo>
                      <a:pt x="871625" y="181951"/>
                      <a:pt x="676505" y="0"/>
                      <a:pt x="435812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81715" y="-114300"/>
                <a:ext cx="708195" cy="850900"/>
              </a:xfrm>
              <a:prstGeom prst="rect">
                <a:avLst/>
              </a:prstGeom>
            </p:spPr>
            <p:txBody>
              <a:bodyPr anchor="ctr" rtlCol="false" tIns="148497" lIns="148497" bIns="148497" rIns="148497"/>
              <a:lstStyle/>
              <a:p>
                <a:pPr algn="ctr">
                  <a:lnSpc>
                    <a:spcPts val="13999"/>
                  </a:lnSpc>
                  <a:spcBef>
                    <a:spcPct val="0"/>
                  </a:spcBef>
                </a:pPr>
                <a:r>
                  <a:rPr lang="en-US" b="true" sz="9999">
                    <a:solidFill>
                      <a:srgbClr val="3A6AD6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2</a:t>
                </a: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254928" y="15913094"/>
              <a:ext cx="21918645" cy="5351344"/>
              <a:chOff x="0" y="0"/>
              <a:chExt cx="1066935" cy="260488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066935" cy="260488"/>
              </a:xfrm>
              <a:custGeom>
                <a:avLst/>
                <a:gdLst/>
                <a:ahLst/>
                <a:cxnLst/>
                <a:rect r="r" b="b" t="t" l="l"/>
                <a:pathLst>
                  <a:path h="260488" w="1066935">
                    <a:moveTo>
                      <a:pt x="125743" y="0"/>
                    </a:moveTo>
                    <a:lnTo>
                      <a:pt x="941191" y="0"/>
                    </a:lnTo>
                    <a:cubicBezTo>
                      <a:pt x="974541" y="0"/>
                      <a:pt x="1006524" y="13248"/>
                      <a:pt x="1030105" y="36829"/>
                    </a:cubicBezTo>
                    <a:cubicBezTo>
                      <a:pt x="1053687" y="60411"/>
                      <a:pt x="1066935" y="92394"/>
                      <a:pt x="1066935" y="125743"/>
                    </a:cubicBezTo>
                    <a:lnTo>
                      <a:pt x="1066935" y="134744"/>
                    </a:lnTo>
                    <a:cubicBezTo>
                      <a:pt x="1066935" y="204190"/>
                      <a:pt x="1010638" y="260488"/>
                      <a:pt x="941191" y="260488"/>
                    </a:cubicBezTo>
                    <a:lnTo>
                      <a:pt x="125743" y="260488"/>
                    </a:lnTo>
                    <a:cubicBezTo>
                      <a:pt x="92394" y="260488"/>
                      <a:pt x="60411" y="247240"/>
                      <a:pt x="36829" y="223658"/>
                    </a:cubicBezTo>
                    <a:cubicBezTo>
                      <a:pt x="13248" y="200077"/>
                      <a:pt x="0" y="168093"/>
                      <a:pt x="0" y="134744"/>
                    </a:cubicBezTo>
                    <a:lnTo>
                      <a:pt x="0" y="125743"/>
                    </a:lnTo>
                    <a:cubicBezTo>
                      <a:pt x="0" y="92394"/>
                      <a:pt x="13248" y="60411"/>
                      <a:pt x="36829" y="36829"/>
                    </a:cubicBezTo>
                    <a:cubicBezTo>
                      <a:pt x="60411" y="13248"/>
                      <a:pt x="92394" y="0"/>
                      <a:pt x="125743" y="0"/>
                    </a:cubicBezTo>
                    <a:close/>
                  </a:path>
                </a:pathLst>
              </a:custGeom>
              <a:solidFill>
                <a:srgbClr val="F8F8F8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95250"/>
                <a:ext cx="1066935" cy="355738"/>
              </a:xfrm>
              <a:prstGeom prst="rect">
                <a:avLst/>
              </a:prstGeom>
            </p:spPr>
            <p:txBody>
              <a:bodyPr anchor="ctr" rtlCol="false" tIns="148497" lIns="148497" bIns="148497" rIns="148497"/>
              <a:lstStyle/>
              <a:p>
                <a:pPr algn="ctr">
                  <a:lnSpc>
                    <a:spcPts val="7093"/>
                  </a:lnSpc>
                </a:pPr>
              </a:p>
            </p:txBody>
          </p:sp>
        </p:grpSp>
        <p:sp>
          <p:nvSpPr>
            <p:cNvPr name="Freeform 34" id="34"/>
            <p:cNvSpPr/>
            <p:nvPr/>
          </p:nvSpPr>
          <p:spPr>
            <a:xfrm flipH="false" flipV="false" rot="0">
              <a:off x="1594430" y="16806991"/>
              <a:ext cx="4545799" cy="4311964"/>
            </a:xfrm>
            <a:custGeom>
              <a:avLst/>
              <a:gdLst/>
              <a:ahLst/>
              <a:cxnLst/>
              <a:rect r="r" b="b" t="t" l="l"/>
              <a:pathLst>
                <a:path h="4311964" w="4545799">
                  <a:moveTo>
                    <a:pt x="0" y="0"/>
                  </a:moveTo>
                  <a:lnTo>
                    <a:pt x="4545799" y="0"/>
                  </a:lnTo>
                  <a:lnTo>
                    <a:pt x="4545799" y="4311963"/>
                  </a:lnTo>
                  <a:lnTo>
                    <a:pt x="0" y="43119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645" r="0" b="-2645"/>
              </a:stretch>
            </a:blipFill>
          </p:spPr>
        </p:sp>
        <p:grpSp>
          <p:nvGrpSpPr>
            <p:cNvPr name="Group 35" id="35"/>
            <p:cNvGrpSpPr/>
            <p:nvPr/>
          </p:nvGrpSpPr>
          <p:grpSpPr>
            <a:xfrm rot="0">
              <a:off x="1488446" y="16634434"/>
              <a:ext cx="4478852" cy="4253777"/>
              <a:chOff x="0" y="0"/>
              <a:chExt cx="855807" cy="8128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55807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55807">
                    <a:moveTo>
                      <a:pt x="427903" y="0"/>
                    </a:moveTo>
                    <a:cubicBezTo>
                      <a:pt x="191579" y="0"/>
                      <a:pt x="0" y="181951"/>
                      <a:pt x="0" y="406400"/>
                    </a:cubicBezTo>
                    <a:cubicBezTo>
                      <a:pt x="0" y="630849"/>
                      <a:pt x="191579" y="812800"/>
                      <a:pt x="427903" y="812800"/>
                    </a:cubicBezTo>
                    <a:cubicBezTo>
                      <a:pt x="664228" y="812800"/>
                      <a:pt x="855807" y="630849"/>
                      <a:pt x="855807" y="406400"/>
                    </a:cubicBezTo>
                    <a:cubicBezTo>
                      <a:pt x="855807" y="181951"/>
                      <a:pt x="664228" y="0"/>
                      <a:pt x="427903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80232" y="-114300"/>
                <a:ext cx="695343" cy="850900"/>
              </a:xfrm>
              <a:prstGeom prst="rect">
                <a:avLst/>
              </a:prstGeom>
            </p:spPr>
            <p:txBody>
              <a:bodyPr anchor="ctr" rtlCol="false" tIns="148497" lIns="148497" bIns="148497" rIns="148497"/>
              <a:lstStyle/>
              <a:p>
                <a:pPr algn="ctr">
                  <a:lnSpc>
                    <a:spcPts val="13999"/>
                  </a:lnSpc>
                  <a:spcBef>
                    <a:spcPct val="0"/>
                  </a:spcBef>
                </a:pPr>
                <a:r>
                  <a:rPr lang="en-US" b="true" sz="9999">
                    <a:solidFill>
                      <a:srgbClr val="3A6AD6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3</a:t>
                </a: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405124" y="24172738"/>
              <a:ext cx="21918645" cy="6113477"/>
              <a:chOff x="0" y="0"/>
              <a:chExt cx="1066935" cy="297586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066935" cy="297586"/>
              </a:xfrm>
              <a:custGeom>
                <a:avLst/>
                <a:gdLst/>
                <a:ahLst/>
                <a:cxnLst/>
                <a:rect r="r" b="b" t="t" l="l"/>
                <a:pathLst>
                  <a:path h="297586" w="1066935">
                    <a:moveTo>
                      <a:pt x="125743" y="0"/>
                    </a:moveTo>
                    <a:lnTo>
                      <a:pt x="941191" y="0"/>
                    </a:lnTo>
                    <a:cubicBezTo>
                      <a:pt x="974541" y="0"/>
                      <a:pt x="1006524" y="13248"/>
                      <a:pt x="1030105" y="36829"/>
                    </a:cubicBezTo>
                    <a:cubicBezTo>
                      <a:pt x="1053687" y="60411"/>
                      <a:pt x="1066935" y="92394"/>
                      <a:pt x="1066935" y="125743"/>
                    </a:cubicBezTo>
                    <a:lnTo>
                      <a:pt x="1066935" y="171843"/>
                    </a:lnTo>
                    <a:cubicBezTo>
                      <a:pt x="1066935" y="241289"/>
                      <a:pt x="1010638" y="297586"/>
                      <a:pt x="941191" y="297586"/>
                    </a:cubicBezTo>
                    <a:lnTo>
                      <a:pt x="125743" y="297586"/>
                    </a:lnTo>
                    <a:cubicBezTo>
                      <a:pt x="92394" y="297586"/>
                      <a:pt x="60411" y="284338"/>
                      <a:pt x="36829" y="260757"/>
                    </a:cubicBezTo>
                    <a:cubicBezTo>
                      <a:pt x="13248" y="237175"/>
                      <a:pt x="0" y="205192"/>
                      <a:pt x="0" y="171843"/>
                    </a:cubicBezTo>
                    <a:lnTo>
                      <a:pt x="0" y="125743"/>
                    </a:lnTo>
                    <a:cubicBezTo>
                      <a:pt x="0" y="92394"/>
                      <a:pt x="13248" y="60411"/>
                      <a:pt x="36829" y="36829"/>
                    </a:cubicBezTo>
                    <a:cubicBezTo>
                      <a:pt x="60411" y="13248"/>
                      <a:pt x="92394" y="0"/>
                      <a:pt x="125743" y="0"/>
                    </a:cubicBezTo>
                    <a:close/>
                  </a:path>
                </a:pathLst>
              </a:custGeom>
              <a:solidFill>
                <a:srgbClr val="F8F8F8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95250"/>
                <a:ext cx="1066935" cy="392836"/>
              </a:xfrm>
              <a:prstGeom prst="rect">
                <a:avLst/>
              </a:prstGeom>
            </p:spPr>
            <p:txBody>
              <a:bodyPr anchor="ctr" rtlCol="false" tIns="148497" lIns="148497" bIns="148497" rIns="148497"/>
              <a:lstStyle/>
              <a:p>
                <a:pPr algn="ctr">
                  <a:lnSpc>
                    <a:spcPts val="7093"/>
                  </a:lnSpc>
                </a:pPr>
              </a:p>
            </p:txBody>
          </p:sp>
        </p:grpSp>
        <p:sp>
          <p:nvSpPr>
            <p:cNvPr name="Freeform 41" id="41"/>
            <p:cNvSpPr/>
            <p:nvPr/>
          </p:nvSpPr>
          <p:spPr>
            <a:xfrm flipH="false" flipV="false" rot="0">
              <a:off x="1744626" y="25357514"/>
              <a:ext cx="4545799" cy="4311964"/>
            </a:xfrm>
            <a:custGeom>
              <a:avLst/>
              <a:gdLst/>
              <a:ahLst/>
              <a:cxnLst/>
              <a:rect r="r" b="b" t="t" l="l"/>
              <a:pathLst>
                <a:path h="4311964" w="4545799">
                  <a:moveTo>
                    <a:pt x="0" y="0"/>
                  </a:moveTo>
                  <a:lnTo>
                    <a:pt x="4545799" y="0"/>
                  </a:lnTo>
                  <a:lnTo>
                    <a:pt x="4545799" y="4311963"/>
                  </a:lnTo>
                  <a:lnTo>
                    <a:pt x="0" y="43119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645" r="0" b="-2645"/>
              </a:stretch>
            </a:blipFill>
          </p:spPr>
        </p:sp>
        <p:grpSp>
          <p:nvGrpSpPr>
            <p:cNvPr name="Group 42" id="42"/>
            <p:cNvGrpSpPr/>
            <p:nvPr/>
          </p:nvGrpSpPr>
          <p:grpSpPr>
            <a:xfrm rot="0">
              <a:off x="1638642" y="25184958"/>
              <a:ext cx="4478852" cy="4253777"/>
              <a:chOff x="0" y="0"/>
              <a:chExt cx="855807" cy="8128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855807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55807">
                    <a:moveTo>
                      <a:pt x="427903" y="0"/>
                    </a:moveTo>
                    <a:cubicBezTo>
                      <a:pt x="191579" y="0"/>
                      <a:pt x="0" y="181951"/>
                      <a:pt x="0" y="406400"/>
                    </a:cubicBezTo>
                    <a:cubicBezTo>
                      <a:pt x="0" y="630849"/>
                      <a:pt x="191579" y="812800"/>
                      <a:pt x="427903" y="812800"/>
                    </a:cubicBezTo>
                    <a:cubicBezTo>
                      <a:pt x="664228" y="812800"/>
                      <a:pt x="855807" y="630849"/>
                      <a:pt x="855807" y="406400"/>
                    </a:cubicBezTo>
                    <a:cubicBezTo>
                      <a:pt x="855807" y="181951"/>
                      <a:pt x="664228" y="0"/>
                      <a:pt x="427903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80232" y="-114300"/>
                <a:ext cx="695343" cy="850900"/>
              </a:xfrm>
              <a:prstGeom prst="rect">
                <a:avLst/>
              </a:prstGeom>
            </p:spPr>
            <p:txBody>
              <a:bodyPr anchor="ctr" rtlCol="false" tIns="148497" lIns="148497" bIns="148497" rIns="148497"/>
              <a:lstStyle/>
              <a:p>
                <a:pPr algn="ctr">
                  <a:lnSpc>
                    <a:spcPts val="13999"/>
                  </a:lnSpc>
                  <a:spcBef>
                    <a:spcPct val="0"/>
                  </a:spcBef>
                </a:pPr>
                <a:r>
                  <a:rPr lang="en-US" b="true" sz="9999">
                    <a:solidFill>
                      <a:srgbClr val="3A6AD6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4</a:t>
                </a:r>
              </a:p>
            </p:txBody>
          </p:sp>
        </p:grpSp>
        <p:sp>
          <p:nvSpPr>
            <p:cNvPr name="TextBox 45" id="45"/>
            <p:cNvSpPr txBox="true"/>
            <p:nvPr/>
          </p:nvSpPr>
          <p:spPr>
            <a:xfrm rot="0">
              <a:off x="6117494" y="9225806"/>
              <a:ext cx="14551103" cy="37039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34"/>
                </a:lnSpc>
                <a:spcBef>
                  <a:spcPct val="0"/>
                </a:spcBef>
              </a:pPr>
              <a:r>
                <a:rPr lang="en-US" sz="3953">
                  <a:solidFill>
                    <a:srgbClr val="3B3B3B"/>
                  </a:solidFill>
                  <a:latin typeface="Poppins"/>
                  <a:ea typeface="Poppins"/>
                  <a:cs typeface="Poppins"/>
                  <a:sym typeface="Poppins"/>
                </a:rPr>
                <a:t>By utilizing a high-fidelity I2S MEMS microphone, the device captures crystal-clear respiratory data without the electrical noise of traditional analog sensors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6203960" y="16122930"/>
              <a:ext cx="14378172" cy="5565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34"/>
                </a:lnSpc>
              </a:pPr>
              <a:r>
                <a:rPr lang="en-US" sz="3953">
                  <a:solidFill>
                    <a:srgbClr val="3B3B3B"/>
                  </a:solidFill>
                  <a:latin typeface="Poppins"/>
                  <a:ea typeface="Poppins"/>
                  <a:cs typeface="Poppins"/>
                  <a:sym typeface="Poppins"/>
                </a:rPr>
                <a:t>All AI inference is performed locally on the XIAO C6 microcontroller, ensuring diagnostic results are available in under 6ms without needing an internet connection.</a:t>
              </a:r>
            </a:p>
            <a:p>
              <a:pPr algn="l">
                <a:lnSpc>
                  <a:spcPts val="5534"/>
                </a:lnSpc>
                <a:spcBef>
                  <a:spcPct val="0"/>
                </a:spcBef>
              </a:pP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6290425" y="24744238"/>
              <a:ext cx="14291706" cy="46348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34"/>
                </a:lnSpc>
                <a:spcBef>
                  <a:spcPct val="0"/>
                </a:spcBef>
              </a:pPr>
              <a:r>
                <a:rPr lang="en-US" sz="3953">
                  <a:solidFill>
                    <a:srgbClr val="3B3B3B"/>
                  </a:solidFill>
                  <a:latin typeface="Poppins"/>
                  <a:ea typeface="Poppins"/>
                  <a:cs typeface="Poppins"/>
                  <a:sym typeface="Poppins"/>
                </a:rPr>
                <a:t>The system provides a standardized "second opinion" to local healthcare workers, reducing human error and ensuring high-risk patients are referred to hospitals immediately.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205930" y="-17178070"/>
            <a:ext cx="34356141" cy="3435614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135467" lIns="135467" bIns="135467" rIns="135467"/>
            <a:lstStyle/>
            <a:p>
              <a:pPr algn="ctr">
                <a:lnSpc>
                  <a:spcPts val="7093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530717" y="-13361714"/>
            <a:ext cx="29517673" cy="29480776"/>
          </a:xfrm>
          <a:custGeom>
            <a:avLst/>
            <a:gdLst/>
            <a:ahLst/>
            <a:cxnLst/>
            <a:rect r="r" b="b" t="t" l="l"/>
            <a:pathLst>
              <a:path h="29480776" w="29517673">
                <a:moveTo>
                  <a:pt x="0" y="0"/>
                </a:moveTo>
                <a:lnTo>
                  <a:pt x="29517674" y="0"/>
                </a:lnTo>
                <a:lnTo>
                  <a:pt x="29517674" y="29480776"/>
                </a:lnTo>
                <a:lnTo>
                  <a:pt x="0" y="294807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842522" y="-14541478"/>
            <a:ext cx="29082956" cy="2908295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135467" lIns="135467" bIns="135467" rIns="135467"/>
            <a:lstStyle/>
            <a:p>
              <a:pPr algn="ctr">
                <a:lnSpc>
                  <a:spcPts val="709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3425437" y="9496395"/>
            <a:ext cx="13706242" cy="9304141"/>
            <a:chOff x="0" y="0"/>
            <a:chExt cx="18274989" cy="12405521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8274989" cy="12405521"/>
              <a:chOff x="0" y="0"/>
              <a:chExt cx="1052050" cy="714158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052050" cy="714158"/>
              </a:xfrm>
              <a:custGeom>
                <a:avLst/>
                <a:gdLst/>
                <a:ahLst/>
                <a:cxnLst/>
                <a:rect r="r" b="b" t="t" l="l"/>
                <a:pathLst>
                  <a:path h="714158" w="1052050">
                    <a:moveTo>
                      <a:pt x="75125" y="0"/>
                    </a:moveTo>
                    <a:lnTo>
                      <a:pt x="976926" y="0"/>
                    </a:lnTo>
                    <a:cubicBezTo>
                      <a:pt x="996850" y="0"/>
                      <a:pt x="1015958" y="7915"/>
                      <a:pt x="1030047" y="22003"/>
                    </a:cubicBezTo>
                    <a:cubicBezTo>
                      <a:pt x="1044135" y="36092"/>
                      <a:pt x="1052050" y="55200"/>
                      <a:pt x="1052050" y="75125"/>
                    </a:cubicBezTo>
                    <a:lnTo>
                      <a:pt x="1052050" y="639034"/>
                    </a:lnTo>
                    <a:cubicBezTo>
                      <a:pt x="1052050" y="658958"/>
                      <a:pt x="1044135" y="678066"/>
                      <a:pt x="1030047" y="692155"/>
                    </a:cubicBezTo>
                    <a:cubicBezTo>
                      <a:pt x="1015958" y="706243"/>
                      <a:pt x="996850" y="714158"/>
                      <a:pt x="976926" y="714158"/>
                    </a:cubicBezTo>
                    <a:lnTo>
                      <a:pt x="75125" y="714158"/>
                    </a:lnTo>
                    <a:cubicBezTo>
                      <a:pt x="55200" y="714158"/>
                      <a:pt x="36092" y="706243"/>
                      <a:pt x="22003" y="692155"/>
                    </a:cubicBezTo>
                    <a:cubicBezTo>
                      <a:pt x="7915" y="678066"/>
                      <a:pt x="0" y="658958"/>
                      <a:pt x="0" y="639034"/>
                    </a:cubicBezTo>
                    <a:lnTo>
                      <a:pt x="0" y="75125"/>
                    </a:lnTo>
                    <a:cubicBezTo>
                      <a:pt x="0" y="55200"/>
                      <a:pt x="7915" y="36092"/>
                      <a:pt x="22003" y="22003"/>
                    </a:cubicBezTo>
                    <a:cubicBezTo>
                      <a:pt x="36092" y="7915"/>
                      <a:pt x="55200" y="0"/>
                      <a:pt x="75125" y="0"/>
                    </a:cubicBezTo>
                    <a:close/>
                  </a:path>
                </a:pathLst>
              </a:custGeom>
              <a:solidFill>
                <a:srgbClr val="F8F8F8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95250"/>
                <a:ext cx="1052050" cy="809408"/>
              </a:xfrm>
              <a:prstGeom prst="rect">
                <a:avLst/>
              </a:prstGeom>
            </p:spPr>
            <p:txBody>
              <a:bodyPr anchor="ctr" rtlCol="false" tIns="125564" lIns="125564" bIns="125564" rIns="125564"/>
              <a:lstStyle/>
              <a:p>
                <a:pPr algn="ctr">
                  <a:lnSpc>
                    <a:spcPts val="7093"/>
                  </a:lnSpc>
                </a:pPr>
              </a:p>
            </p:txBody>
          </p:sp>
        </p:grpSp>
        <p:sp>
          <p:nvSpPr>
            <p:cNvPr name="Freeform 13" id="13"/>
            <p:cNvSpPr/>
            <p:nvPr/>
          </p:nvSpPr>
          <p:spPr>
            <a:xfrm flipH="false" flipV="false" rot="0">
              <a:off x="2129009" y="1896710"/>
              <a:ext cx="3650590" cy="3646027"/>
            </a:xfrm>
            <a:custGeom>
              <a:avLst/>
              <a:gdLst/>
              <a:ahLst/>
              <a:cxnLst/>
              <a:rect r="r" b="b" t="t" l="l"/>
              <a:pathLst>
                <a:path h="3646027" w="3650590">
                  <a:moveTo>
                    <a:pt x="0" y="0"/>
                  </a:moveTo>
                  <a:lnTo>
                    <a:pt x="3650590" y="0"/>
                  </a:lnTo>
                  <a:lnTo>
                    <a:pt x="3650590" y="3646027"/>
                  </a:lnTo>
                  <a:lnTo>
                    <a:pt x="0" y="3646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14" id="14"/>
            <p:cNvGrpSpPr/>
            <p:nvPr/>
          </p:nvGrpSpPr>
          <p:grpSpPr>
            <a:xfrm rot="0">
              <a:off x="2043897" y="1750803"/>
              <a:ext cx="3596826" cy="3596826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</p:spPr>
            <p:txBody>
              <a:bodyPr anchor="ctr" rtlCol="false" tIns="125564" lIns="125564" bIns="125564" rIns="125564"/>
              <a:lstStyle/>
              <a:p>
                <a:pPr algn="ctr">
                  <a:lnSpc>
                    <a:spcPts val="7093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17" id="17"/>
            <p:cNvSpPr/>
            <p:nvPr/>
          </p:nvSpPr>
          <p:spPr>
            <a:xfrm flipH="false" flipV="false" rot="0">
              <a:off x="2765002" y="2338492"/>
              <a:ext cx="2154616" cy="2421449"/>
            </a:xfrm>
            <a:custGeom>
              <a:avLst/>
              <a:gdLst/>
              <a:ahLst/>
              <a:cxnLst/>
              <a:rect r="r" b="b" t="t" l="l"/>
              <a:pathLst>
                <a:path h="2421449" w="2154616">
                  <a:moveTo>
                    <a:pt x="0" y="0"/>
                  </a:moveTo>
                  <a:lnTo>
                    <a:pt x="2154616" y="0"/>
                  </a:lnTo>
                  <a:lnTo>
                    <a:pt x="2154616" y="2421449"/>
                  </a:lnTo>
                  <a:lnTo>
                    <a:pt x="0" y="24214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6827634" y="1763360"/>
              <a:ext cx="11447355" cy="22781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887"/>
                </a:lnSpc>
                <a:spcBef>
                  <a:spcPct val="0"/>
                </a:spcBef>
              </a:pPr>
              <a:r>
                <a:rPr lang="en-US" b="true" sz="4919">
                  <a:solidFill>
                    <a:srgbClr val="3A6AD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Prevention of Critical Complications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6827634" y="4328367"/>
              <a:ext cx="10134571" cy="56176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1F2020"/>
                  </a:solidFill>
                  <a:latin typeface="Poppins"/>
                  <a:ea typeface="Poppins"/>
                  <a:cs typeface="Poppins"/>
                  <a:sym typeface="Poppins"/>
                </a:rPr>
                <a:t>Enables early detection of high-risk pathologies, allowing for timely hospital referrals and reducing the risk of minor infections turning into emergencies.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6644797" y="22555781"/>
            <a:ext cx="2538052" cy="2133019"/>
            <a:chOff x="0" y="0"/>
            <a:chExt cx="96714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67140" cy="812800"/>
            </a:xfrm>
            <a:custGeom>
              <a:avLst/>
              <a:gdLst/>
              <a:ahLst/>
              <a:cxnLst/>
              <a:rect r="r" b="b" t="t" l="l"/>
              <a:pathLst>
                <a:path h="812800" w="967140">
                  <a:moveTo>
                    <a:pt x="82359" y="0"/>
                  </a:moveTo>
                  <a:lnTo>
                    <a:pt x="884781" y="0"/>
                  </a:lnTo>
                  <a:cubicBezTo>
                    <a:pt x="906624" y="0"/>
                    <a:pt x="927572" y="8677"/>
                    <a:pt x="943018" y="24122"/>
                  </a:cubicBezTo>
                  <a:cubicBezTo>
                    <a:pt x="958463" y="39568"/>
                    <a:pt x="967140" y="60516"/>
                    <a:pt x="967140" y="82359"/>
                  </a:cubicBezTo>
                  <a:lnTo>
                    <a:pt x="967140" y="730441"/>
                  </a:lnTo>
                  <a:cubicBezTo>
                    <a:pt x="967140" y="752284"/>
                    <a:pt x="958463" y="773232"/>
                    <a:pt x="943018" y="788678"/>
                  </a:cubicBezTo>
                  <a:cubicBezTo>
                    <a:pt x="927572" y="804123"/>
                    <a:pt x="906624" y="812800"/>
                    <a:pt x="884781" y="812800"/>
                  </a:cubicBezTo>
                  <a:lnTo>
                    <a:pt x="82359" y="812800"/>
                  </a:lnTo>
                  <a:cubicBezTo>
                    <a:pt x="60516" y="812800"/>
                    <a:pt x="39568" y="804123"/>
                    <a:pt x="24122" y="788678"/>
                  </a:cubicBezTo>
                  <a:cubicBezTo>
                    <a:pt x="8677" y="773232"/>
                    <a:pt x="0" y="752284"/>
                    <a:pt x="0" y="730441"/>
                  </a:cubicBezTo>
                  <a:lnTo>
                    <a:pt x="0" y="82359"/>
                  </a:lnTo>
                  <a:cubicBezTo>
                    <a:pt x="0" y="60516"/>
                    <a:pt x="8677" y="39568"/>
                    <a:pt x="24122" y="24122"/>
                  </a:cubicBezTo>
                  <a:cubicBezTo>
                    <a:pt x="39568" y="8677"/>
                    <a:pt x="60516" y="0"/>
                    <a:pt x="82359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0"/>
              <a:ext cx="967140" cy="908050"/>
            </a:xfrm>
            <a:prstGeom prst="rect">
              <a:avLst/>
            </a:prstGeom>
          </p:spPr>
          <p:txBody>
            <a:bodyPr anchor="ctr" rtlCol="false" tIns="135467" lIns="135467" bIns="135467" rIns="135467"/>
            <a:lstStyle/>
            <a:p>
              <a:pPr algn="ctr">
                <a:lnSpc>
                  <a:spcPts val="7093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22640967" y="3835651"/>
            <a:ext cx="3486065" cy="3531005"/>
          </a:xfrm>
          <a:custGeom>
            <a:avLst/>
            <a:gdLst/>
            <a:ahLst/>
            <a:cxnLst/>
            <a:rect r="r" b="b" t="t" l="l"/>
            <a:pathLst>
              <a:path h="3531005" w="3486065">
                <a:moveTo>
                  <a:pt x="0" y="0"/>
                </a:moveTo>
                <a:lnTo>
                  <a:pt x="3486066" y="0"/>
                </a:lnTo>
                <a:lnTo>
                  <a:pt x="3486066" y="3531005"/>
                </a:lnTo>
                <a:lnTo>
                  <a:pt x="0" y="35310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47131679" y="23225325"/>
            <a:ext cx="1180659" cy="691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87"/>
              </a:lnSpc>
              <a:spcBef>
                <a:spcPct val="0"/>
              </a:spcBef>
            </a:pPr>
            <a:r>
              <a:rPr lang="en-US" b="true" sz="391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06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8273852" y="7681924"/>
            <a:ext cx="12220296" cy="2177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27"/>
              </a:lnSpc>
              <a:spcBef>
                <a:spcPct val="0"/>
              </a:spcBef>
            </a:pPr>
            <a:r>
              <a:rPr lang="en-US" b="true" sz="12162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Benefits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352809" y="10781583"/>
            <a:ext cx="13706242" cy="9304141"/>
            <a:chOff x="0" y="0"/>
            <a:chExt cx="18274989" cy="12405521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18274989" cy="12405521"/>
              <a:chOff x="0" y="0"/>
              <a:chExt cx="1052050" cy="714158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052050" cy="714158"/>
              </a:xfrm>
              <a:custGeom>
                <a:avLst/>
                <a:gdLst/>
                <a:ahLst/>
                <a:cxnLst/>
                <a:rect r="r" b="b" t="t" l="l"/>
                <a:pathLst>
                  <a:path h="714158" w="1052050">
                    <a:moveTo>
                      <a:pt x="75125" y="0"/>
                    </a:moveTo>
                    <a:lnTo>
                      <a:pt x="976926" y="0"/>
                    </a:lnTo>
                    <a:cubicBezTo>
                      <a:pt x="996850" y="0"/>
                      <a:pt x="1015958" y="7915"/>
                      <a:pt x="1030047" y="22003"/>
                    </a:cubicBezTo>
                    <a:cubicBezTo>
                      <a:pt x="1044135" y="36092"/>
                      <a:pt x="1052050" y="55200"/>
                      <a:pt x="1052050" y="75125"/>
                    </a:cubicBezTo>
                    <a:lnTo>
                      <a:pt x="1052050" y="639034"/>
                    </a:lnTo>
                    <a:cubicBezTo>
                      <a:pt x="1052050" y="658958"/>
                      <a:pt x="1044135" y="678066"/>
                      <a:pt x="1030047" y="692155"/>
                    </a:cubicBezTo>
                    <a:cubicBezTo>
                      <a:pt x="1015958" y="706243"/>
                      <a:pt x="996850" y="714158"/>
                      <a:pt x="976926" y="714158"/>
                    </a:cubicBezTo>
                    <a:lnTo>
                      <a:pt x="75125" y="714158"/>
                    </a:lnTo>
                    <a:cubicBezTo>
                      <a:pt x="55200" y="714158"/>
                      <a:pt x="36092" y="706243"/>
                      <a:pt x="22003" y="692155"/>
                    </a:cubicBezTo>
                    <a:cubicBezTo>
                      <a:pt x="7915" y="678066"/>
                      <a:pt x="0" y="658958"/>
                      <a:pt x="0" y="639034"/>
                    </a:cubicBezTo>
                    <a:lnTo>
                      <a:pt x="0" y="75125"/>
                    </a:lnTo>
                    <a:cubicBezTo>
                      <a:pt x="0" y="55200"/>
                      <a:pt x="7915" y="36092"/>
                      <a:pt x="22003" y="22003"/>
                    </a:cubicBezTo>
                    <a:cubicBezTo>
                      <a:pt x="36092" y="7915"/>
                      <a:pt x="55200" y="0"/>
                      <a:pt x="75125" y="0"/>
                    </a:cubicBezTo>
                    <a:close/>
                  </a:path>
                </a:pathLst>
              </a:custGeom>
              <a:solidFill>
                <a:srgbClr val="F8F8F8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95250"/>
                <a:ext cx="1052050" cy="809408"/>
              </a:xfrm>
              <a:prstGeom prst="rect">
                <a:avLst/>
              </a:prstGeom>
            </p:spPr>
            <p:txBody>
              <a:bodyPr anchor="ctr" rtlCol="false" tIns="125564" lIns="125564" bIns="125564" rIns="125564"/>
              <a:lstStyle/>
              <a:p>
                <a:pPr algn="ctr">
                  <a:lnSpc>
                    <a:spcPts val="7093"/>
                  </a:lnSpc>
                </a:pPr>
              </a:p>
            </p:txBody>
          </p:sp>
        </p:grpSp>
        <p:sp>
          <p:nvSpPr>
            <p:cNvPr name="Freeform 30" id="30"/>
            <p:cNvSpPr/>
            <p:nvPr/>
          </p:nvSpPr>
          <p:spPr>
            <a:xfrm flipH="false" flipV="false" rot="0">
              <a:off x="2129009" y="1896710"/>
              <a:ext cx="3650590" cy="3646027"/>
            </a:xfrm>
            <a:custGeom>
              <a:avLst/>
              <a:gdLst/>
              <a:ahLst/>
              <a:cxnLst/>
              <a:rect r="r" b="b" t="t" l="l"/>
              <a:pathLst>
                <a:path h="3646027" w="3650590">
                  <a:moveTo>
                    <a:pt x="0" y="0"/>
                  </a:moveTo>
                  <a:lnTo>
                    <a:pt x="3650590" y="0"/>
                  </a:lnTo>
                  <a:lnTo>
                    <a:pt x="3650590" y="3646027"/>
                  </a:lnTo>
                  <a:lnTo>
                    <a:pt x="0" y="3646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31" id="31"/>
            <p:cNvGrpSpPr/>
            <p:nvPr/>
          </p:nvGrpSpPr>
          <p:grpSpPr>
            <a:xfrm rot="0">
              <a:off x="2043897" y="1750803"/>
              <a:ext cx="3596826" cy="3596826"/>
              <a:chOff x="0" y="0"/>
              <a:chExt cx="812800" cy="8128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</p:spPr>
            <p:txBody>
              <a:bodyPr anchor="ctr" rtlCol="false" tIns="125564" lIns="125564" bIns="125564" rIns="125564"/>
              <a:lstStyle/>
              <a:p>
                <a:pPr algn="ctr">
                  <a:lnSpc>
                    <a:spcPts val="7093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34" id="34"/>
            <p:cNvSpPr/>
            <p:nvPr/>
          </p:nvSpPr>
          <p:spPr>
            <a:xfrm flipH="false" flipV="false" rot="0">
              <a:off x="2765002" y="2338492"/>
              <a:ext cx="2154616" cy="2421449"/>
            </a:xfrm>
            <a:custGeom>
              <a:avLst/>
              <a:gdLst/>
              <a:ahLst/>
              <a:cxnLst/>
              <a:rect r="r" b="b" t="t" l="l"/>
              <a:pathLst>
                <a:path h="2421449" w="2154616">
                  <a:moveTo>
                    <a:pt x="0" y="0"/>
                  </a:moveTo>
                  <a:lnTo>
                    <a:pt x="2154616" y="0"/>
                  </a:lnTo>
                  <a:lnTo>
                    <a:pt x="2154616" y="2421449"/>
                  </a:lnTo>
                  <a:lnTo>
                    <a:pt x="0" y="24214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 rot="0">
              <a:off x="6827634" y="1763360"/>
              <a:ext cx="11447355" cy="22781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887"/>
                </a:lnSpc>
                <a:spcBef>
                  <a:spcPct val="0"/>
                </a:spcBef>
              </a:pPr>
              <a:r>
                <a:rPr lang="en-US" b="true" sz="4919">
                  <a:solidFill>
                    <a:srgbClr val="3A6AD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Elimination of Diagnostic Subjectivity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6827634" y="4328367"/>
              <a:ext cx="10134571" cy="56176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1F2020"/>
                  </a:solidFill>
                  <a:latin typeface="Poppins"/>
                  <a:ea typeface="Poppins"/>
                  <a:cs typeface="Poppins"/>
                  <a:sym typeface="Poppins"/>
                </a:rPr>
                <a:t>Replaces inconsistent human hearing with a standardized AI model, ensuring every patient receives an objective and accurate lung assessment.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842522" y="17993575"/>
            <a:ext cx="13706242" cy="8135388"/>
            <a:chOff x="0" y="0"/>
            <a:chExt cx="18274989" cy="10847183"/>
          </a:xfrm>
        </p:grpSpPr>
        <p:grpSp>
          <p:nvGrpSpPr>
            <p:cNvPr name="Group 38" id="38"/>
            <p:cNvGrpSpPr/>
            <p:nvPr/>
          </p:nvGrpSpPr>
          <p:grpSpPr>
            <a:xfrm rot="0">
              <a:off x="0" y="0"/>
              <a:ext cx="18274989" cy="10847183"/>
              <a:chOff x="0" y="0"/>
              <a:chExt cx="1052050" cy="624448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052050" cy="624448"/>
              </a:xfrm>
              <a:custGeom>
                <a:avLst/>
                <a:gdLst/>
                <a:ahLst/>
                <a:cxnLst/>
                <a:rect r="r" b="b" t="t" l="l"/>
                <a:pathLst>
                  <a:path h="624448" w="1052050">
                    <a:moveTo>
                      <a:pt x="75125" y="0"/>
                    </a:moveTo>
                    <a:lnTo>
                      <a:pt x="976926" y="0"/>
                    </a:lnTo>
                    <a:cubicBezTo>
                      <a:pt x="996850" y="0"/>
                      <a:pt x="1015958" y="7915"/>
                      <a:pt x="1030047" y="22003"/>
                    </a:cubicBezTo>
                    <a:cubicBezTo>
                      <a:pt x="1044135" y="36092"/>
                      <a:pt x="1052050" y="55200"/>
                      <a:pt x="1052050" y="75125"/>
                    </a:cubicBezTo>
                    <a:lnTo>
                      <a:pt x="1052050" y="549324"/>
                    </a:lnTo>
                    <a:cubicBezTo>
                      <a:pt x="1052050" y="569248"/>
                      <a:pt x="1044135" y="588356"/>
                      <a:pt x="1030047" y="602445"/>
                    </a:cubicBezTo>
                    <a:cubicBezTo>
                      <a:pt x="1015958" y="616533"/>
                      <a:pt x="996850" y="624448"/>
                      <a:pt x="976926" y="624448"/>
                    </a:cubicBezTo>
                    <a:lnTo>
                      <a:pt x="75125" y="624448"/>
                    </a:lnTo>
                    <a:cubicBezTo>
                      <a:pt x="55200" y="624448"/>
                      <a:pt x="36092" y="616533"/>
                      <a:pt x="22003" y="602445"/>
                    </a:cubicBezTo>
                    <a:cubicBezTo>
                      <a:pt x="7915" y="588356"/>
                      <a:pt x="0" y="569248"/>
                      <a:pt x="0" y="549324"/>
                    </a:cubicBezTo>
                    <a:lnTo>
                      <a:pt x="0" y="75125"/>
                    </a:lnTo>
                    <a:cubicBezTo>
                      <a:pt x="0" y="55200"/>
                      <a:pt x="7915" y="36092"/>
                      <a:pt x="22003" y="22003"/>
                    </a:cubicBezTo>
                    <a:cubicBezTo>
                      <a:pt x="36092" y="7915"/>
                      <a:pt x="55200" y="0"/>
                      <a:pt x="75125" y="0"/>
                    </a:cubicBezTo>
                    <a:close/>
                  </a:path>
                </a:pathLst>
              </a:custGeom>
              <a:solidFill>
                <a:srgbClr val="3A6AD6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95250"/>
                <a:ext cx="1052050" cy="719698"/>
              </a:xfrm>
              <a:prstGeom prst="rect">
                <a:avLst/>
              </a:prstGeom>
            </p:spPr>
            <p:txBody>
              <a:bodyPr anchor="ctr" rtlCol="false" tIns="125564" lIns="125564" bIns="125564" rIns="125564"/>
              <a:lstStyle/>
              <a:p>
                <a:pPr algn="ctr">
                  <a:lnSpc>
                    <a:spcPts val="7093"/>
                  </a:lnSpc>
                </a:pPr>
              </a:p>
            </p:txBody>
          </p:sp>
        </p:grpSp>
        <p:sp>
          <p:nvSpPr>
            <p:cNvPr name="Freeform 41" id="41"/>
            <p:cNvSpPr/>
            <p:nvPr/>
          </p:nvSpPr>
          <p:spPr>
            <a:xfrm flipH="false" flipV="false" rot="0">
              <a:off x="2129009" y="1896710"/>
              <a:ext cx="3650590" cy="3646027"/>
            </a:xfrm>
            <a:custGeom>
              <a:avLst/>
              <a:gdLst/>
              <a:ahLst/>
              <a:cxnLst/>
              <a:rect r="r" b="b" t="t" l="l"/>
              <a:pathLst>
                <a:path h="3646027" w="3650590">
                  <a:moveTo>
                    <a:pt x="0" y="0"/>
                  </a:moveTo>
                  <a:lnTo>
                    <a:pt x="3650590" y="0"/>
                  </a:lnTo>
                  <a:lnTo>
                    <a:pt x="3650590" y="3646027"/>
                  </a:lnTo>
                  <a:lnTo>
                    <a:pt x="0" y="3646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42" id="42"/>
            <p:cNvGrpSpPr/>
            <p:nvPr/>
          </p:nvGrpSpPr>
          <p:grpSpPr>
            <a:xfrm rot="0">
              <a:off x="2043897" y="1750803"/>
              <a:ext cx="3596826" cy="3596826"/>
              <a:chOff x="0" y="0"/>
              <a:chExt cx="812800" cy="8128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</p:spPr>
            <p:txBody>
              <a:bodyPr anchor="ctr" rtlCol="false" tIns="125564" lIns="125564" bIns="125564" rIns="125564"/>
              <a:lstStyle/>
              <a:p>
                <a:pPr algn="ctr">
                  <a:lnSpc>
                    <a:spcPts val="7093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45" id="45"/>
            <p:cNvSpPr/>
            <p:nvPr/>
          </p:nvSpPr>
          <p:spPr>
            <a:xfrm flipH="false" flipV="false" rot="0">
              <a:off x="3210933" y="2909700"/>
              <a:ext cx="1262754" cy="1279033"/>
            </a:xfrm>
            <a:custGeom>
              <a:avLst/>
              <a:gdLst/>
              <a:ahLst/>
              <a:cxnLst/>
              <a:rect r="r" b="b" t="t" l="l"/>
              <a:pathLst>
                <a:path h="1279033" w="1262754">
                  <a:moveTo>
                    <a:pt x="0" y="0"/>
                  </a:moveTo>
                  <a:lnTo>
                    <a:pt x="1262754" y="0"/>
                  </a:lnTo>
                  <a:lnTo>
                    <a:pt x="1262754" y="1279033"/>
                  </a:lnTo>
                  <a:lnTo>
                    <a:pt x="0" y="127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 rot="0">
              <a:off x="5779599" y="1617453"/>
              <a:ext cx="11252816" cy="22781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888"/>
                </a:lnSpc>
                <a:spcBef>
                  <a:spcPct val="0"/>
                </a:spcBef>
              </a:pPr>
              <a:r>
                <a:rPr lang="en-US" b="true" sz="492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Cost-Effective Healthcare Infrastructure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5779599" y="4074433"/>
              <a:ext cx="11252816" cy="56176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Utilizes affordable, off-the-shelf hardware to provide professional-grade digital stethoscopy at a fraction of the cost of current market alternatives.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24384000" y="17844820"/>
            <a:ext cx="13706242" cy="8098660"/>
            <a:chOff x="0" y="0"/>
            <a:chExt cx="18274989" cy="10798213"/>
          </a:xfrm>
        </p:grpSpPr>
        <p:grpSp>
          <p:nvGrpSpPr>
            <p:cNvPr name="Group 49" id="49"/>
            <p:cNvGrpSpPr/>
            <p:nvPr/>
          </p:nvGrpSpPr>
          <p:grpSpPr>
            <a:xfrm rot="0">
              <a:off x="0" y="0"/>
              <a:ext cx="18274989" cy="10798213"/>
              <a:chOff x="0" y="0"/>
              <a:chExt cx="1052050" cy="621629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1052050" cy="621629"/>
              </a:xfrm>
              <a:custGeom>
                <a:avLst/>
                <a:gdLst/>
                <a:ahLst/>
                <a:cxnLst/>
                <a:rect r="r" b="b" t="t" l="l"/>
                <a:pathLst>
                  <a:path h="621629" w="1052050">
                    <a:moveTo>
                      <a:pt x="75125" y="0"/>
                    </a:moveTo>
                    <a:lnTo>
                      <a:pt x="976926" y="0"/>
                    </a:lnTo>
                    <a:cubicBezTo>
                      <a:pt x="996850" y="0"/>
                      <a:pt x="1015958" y="7915"/>
                      <a:pt x="1030047" y="22003"/>
                    </a:cubicBezTo>
                    <a:cubicBezTo>
                      <a:pt x="1044135" y="36092"/>
                      <a:pt x="1052050" y="55200"/>
                      <a:pt x="1052050" y="75125"/>
                    </a:cubicBezTo>
                    <a:lnTo>
                      <a:pt x="1052050" y="546504"/>
                    </a:lnTo>
                    <a:cubicBezTo>
                      <a:pt x="1052050" y="566429"/>
                      <a:pt x="1044135" y="585537"/>
                      <a:pt x="1030047" y="599626"/>
                    </a:cubicBezTo>
                    <a:cubicBezTo>
                      <a:pt x="1015958" y="613714"/>
                      <a:pt x="996850" y="621629"/>
                      <a:pt x="976926" y="621629"/>
                    </a:cubicBezTo>
                    <a:lnTo>
                      <a:pt x="75125" y="621629"/>
                    </a:lnTo>
                    <a:cubicBezTo>
                      <a:pt x="55200" y="621629"/>
                      <a:pt x="36092" y="613714"/>
                      <a:pt x="22003" y="599626"/>
                    </a:cubicBezTo>
                    <a:cubicBezTo>
                      <a:pt x="7915" y="585537"/>
                      <a:pt x="0" y="566429"/>
                      <a:pt x="0" y="546504"/>
                    </a:cubicBezTo>
                    <a:lnTo>
                      <a:pt x="0" y="75125"/>
                    </a:lnTo>
                    <a:cubicBezTo>
                      <a:pt x="0" y="55200"/>
                      <a:pt x="7915" y="36092"/>
                      <a:pt x="22003" y="22003"/>
                    </a:cubicBezTo>
                    <a:cubicBezTo>
                      <a:pt x="36092" y="7915"/>
                      <a:pt x="55200" y="0"/>
                      <a:pt x="75125" y="0"/>
                    </a:cubicBezTo>
                    <a:close/>
                  </a:path>
                </a:pathLst>
              </a:custGeom>
              <a:solidFill>
                <a:srgbClr val="3A6AD6"/>
              </a:solid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95250"/>
                <a:ext cx="1052050" cy="716879"/>
              </a:xfrm>
              <a:prstGeom prst="rect">
                <a:avLst/>
              </a:prstGeom>
            </p:spPr>
            <p:txBody>
              <a:bodyPr anchor="ctr" rtlCol="false" tIns="125564" lIns="125564" bIns="125564" rIns="125564"/>
              <a:lstStyle/>
              <a:p>
                <a:pPr algn="ctr">
                  <a:lnSpc>
                    <a:spcPts val="7093"/>
                  </a:lnSpc>
                </a:pPr>
              </a:p>
            </p:txBody>
          </p:sp>
        </p:grpSp>
        <p:sp>
          <p:nvSpPr>
            <p:cNvPr name="Freeform 52" id="52"/>
            <p:cNvSpPr/>
            <p:nvPr/>
          </p:nvSpPr>
          <p:spPr>
            <a:xfrm flipH="false" flipV="false" rot="0">
              <a:off x="2129009" y="1896710"/>
              <a:ext cx="3650590" cy="3646027"/>
            </a:xfrm>
            <a:custGeom>
              <a:avLst/>
              <a:gdLst/>
              <a:ahLst/>
              <a:cxnLst/>
              <a:rect r="r" b="b" t="t" l="l"/>
              <a:pathLst>
                <a:path h="3646027" w="3650590">
                  <a:moveTo>
                    <a:pt x="0" y="0"/>
                  </a:moveTo>
                  <a:lnTo>
                    <a:pt x="3650590" y="0"/>
                  </a:lnTo>
                  <a:lnTo>
                    <a:pt x="3650590" y="3646027"/>
                  </a:lnTo>
                  <a:lnTo>
                    <a:pt x="0" y="3646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53" id="53"/>
            <p:cNvGrpSpPr/>
            <p:nvPr/>
          </p:nvGrpSpPr>
          <p:grpSpPr>
            <a:xfrm rot="0">
              <a:off x="2043897" y="1750803"/>
              <a:ext cx="3596826" cy="3596826"/>
              <a:chOff x="0" y="0"/>
              <a:chExt cx="812800" cy="812800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</p:spPr>
            <p:txBody>
              <a:bodyPr anchor="ctr" rtlCol="false" tIns="125564" lIns="125564" bIns="125564" rIns="125564"/>
              <a:lstStyle/>
              <a:p>
                <a:pPr algn="ctr">
                  <a:lnSpc>
                    <a:spcPts val="7093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56" id="56"/>
            <p:cNvSpPr/>
            <p:nvPr/>
          </p:nvSpPr>
          <p:spPr>
            <a:xfrm flipH="false" flipV="false" rot="0">
              <a:off x="3210933" y="2909700"/>
              <a:ext cx="1262754" cy="1279033"/>
            </a:xfrm>
            <a:custGeom>
              <a:avLst/>
              <a:gdLst/>
              <a:ahLst/>
              <a:cxnLst/>
              <a:rect r="r" b="b" t="t" l="l"/>
              <a:pathLst>
                <a:path h="1279033" w="1262754">
                  <a:moveTo>
                    <a:pt x="0" y="0"/>
                  </a:moveTo>
                  <a:lnTo>
                    <a:pt x="1262754" y="0"/>
                  </a:lnTo>
                  <a:lnTo>
                    <a:pt x="1262754" y="1279033"/>
                  </a:lnTo>
                  <a:lnTo>
                    <a:pt x="0" y="127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 rot="0">
              <a:off x="5779599" y="1617453"/>
              <a:ext cx="11252816" cy="22781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888"/>
                </a:lnSpc>
                <a:spcBef>
                  <a:spcPct val="0"/>
                </a:spcBef>
              </a:pPr>
              <a:r>
                <a:rPr lang="en-US" b="true" sz="492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Enhanced Rural Medical Reach</a:t>
              </a:r>
            </a:p>
          </p:txBody>
        </p:sp>
        <p:sp>
          <p:nvSpPr>
            <p:cNvPr name="TextBox 58" id="58"/>
            <p:cNvSpPr txBox="true"/>
            <p:nvPr/>
          </p:nvSpPr>
          <p:spPr>
            <a:xfrm rot="0">
              <a:off x="5779599" y="4074433"/>
              <a:ext cx="11252816" cy="46778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Empowers frontline health workers and ASHA volunteers to perform complex diagnostic screenings in remote areas without specialist presence.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229879" y="-17091161"/>
            <a:ext cx="36394710" cy="36394710"/>
            <a:chOff x="0" y="0"/>
            <a:chExt cx="48526280" cy="4852628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48526280" cy="48526280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8F8F8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</p:spPr>
            <p:txBody>
              <a:bodyPr anchor="ctr" rtlCol="false" tIns="135467" lIns="135467" bIns="135467" rIns="135467"/>
              <a:lstStyle/>
              <a:p>
                <a:pPr algn="ctr">
                  <a:lnSpc>
                    <a:spcPts val="7093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4696092" y="5390406"/>
              <a:ext cx="41692194" cy="41640078"/>
            </a:xfrm>
            <a:custGeom>
              <a:avLst/>
              <a:gdLst/>
              <a:ahLst/>
              <a:cxnLst/>
              <a:rect r="r" b="b" t="t" l="l"/>
              <a:pathLst>
                <a:path h="41640078" w="41692194">
                  <a:moveTo>
                    <a:pt x="0" y="0"/>
                  </a:moveTo>
                  <a:lnTo>
                    <a:pt x="41692193" y="0"/>
                  </a:lnTo>
                  <a:lnTo>
                    <a:pt x="41692193" y="41640079"/>
                  </a:lnTo>
                  <a:lnTo>
                    <a:pt x="0" y="41640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grpSp>
          <p:nvGrpSpPr>
            <p:cNvPr name="Group 7" id="7"/>
            <p:cNvGrpSpPr/>
            <p:nvPr/>
          </p:nvGrpSpPr>
          <p:grpSpPr>
            <a:xfrm rot="0">
              <a:off x="3724051" y="3724051"/>
              <a:ext cx="41078177" cy="41078177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</p:spPr>
            <p:txBody>
              <a:bodyPr anchor="ctr" rtlCol="false" tIns="135467" lIns="135467" bIns="135467" rIns="135467"/>
              <a:lstStyle/>
              <a:p>
                <a:pPr algn="ctr">
                  <a:lnSpc>
                    <a:spcPts val="7093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10" id="10"/>
          <p:cNvSpPr/>
          <p:nvPr/>
        </p:nvSpPr>
        <p:spPr>
          <a:xfrm flipH="false" flipV="false" rot="0">
            <a:off x="13527112" y="3389940"/>
            <a:ext cx="21713777" cy="24042060"/>
          </a:xfrm>
          <a:custGeom>
            <a:avLst/>
            <a:gdLst/>
            <a:ahLst/>
            <a:cxnLst/>
            <a:rect r="r" b="b" t="t" l="l"/>
            <a:pathLst>
              <a:path h="24042060" w="21713777">
                <a:moveTo>
                  <a:pt x="0" y="0"/>
                </a:moveTo>
                <a:lnTo>
                  <a:pt x="21713776" y="0"/>
                </a:lnTo>
                <a:lnTo>
                  <a:pt x="21713776" y="24042060"/>
                </a:lnTo>
                <a:lnTo>
                  <a:pt x="0" y="240420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0" y="-685800"/>
            <a:ext cx="48768000" cy="4350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42"/>
              </a:lnSpc>
              <a:spcBef>
                <a:spcPct val="0"/>
              </a:spcBef>
            </a:pPr>
            <a:r>
              <a:rPr lang="en-US" b="true" sz="24101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5W1H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14204" y="2743200"/>
            <a:ext cx="36394710" cy="3639471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135467" lIns="135467" bIns="135467" rIns="135467"/>
            <a:lstStyle/>
            <a:p>
              <a:pPr algn="ctr">
                <a:lnSpc>
                  <a:spcPts val="7093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636272" y="6786005"/>
            <a:ext cx="31269145" cy="31230059"/>
          </a:xfrm>
          <a:custGeom>
            <a:avLst/>
            <a:gdLst/>
            <a:ahLst/>
            <a:cxnLst/>
            <a:rect r="r" b="b" t="t" l="l"/>
            <a:pathLst>
              <a:path h="31230059" w="31269145">
                <a:moveTo>
                  <a:pt x="0" y="0"/>
                </a:moveTo>
                <a:lnTo>
                  <a:pt x="31269146" y="0"/>
                </a:lnTo>
                <a:lnTo>
                  <a:pt x="31269146" y="31230058"/>
                </a:lnTo>
                <a:lnTo>
                  <a:pt x="0" y="312300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907242" y="5536238"/>
            <a:ext cx="30808633" cy="3080863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135467" lIns="135467" bIns="135467" rIns="135467"/>
            <a:lstStyle/>
            <a:p>
              <a:pPr algn="ctr">
                <a:lnSpc>
                  <a:spcPts val="7093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5881280" y="12399438"/>
            <a:ext cx="16860558" cy="8541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67"/>
              </a:lnSpc>
            </a:pPr>
            <a:r>
              <a:rPr lang="en-US" sz="30939" b="true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Thank</a:t>
            </a:r>
          </a:p>
          <a:p>
            <a:pPr algn="ctr">
              <a:lnSpc>
                <a:spcPts val="31867"/>
              </a:lnSpc>
            </a:pPr>
            <a:r>
              <a:rPr lang="en-US" b="true" sz="30939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DAHIP3OnNQA</dc:identifier>
  <dcterms:modified xsi:type="dcterms:W3CDTF">2011-08-01T06:04:30Z</dcterms:modified>
  <cp:revision>1</cp:revision>
  <dc:title>Copy of Refiber</dc:title>
</cp:coreProperties>
</file>